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to hold in your head before reading any Strands doc page — one Agent Loop at the center, everything else hangs off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12B"/>
              </a:gs>
              <a:gs pos="100000">
                <a:srgbClr val="0F1218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6000" y="0"/>
            <a:ext cx="4826000" cy="4826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3302000"/>
            <a:ext cx="3556000" cy="3556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15942" y="815942"/>
            <a:ext cx="3158893" cy="352160"/>
          </a:xfrm>
          <a:prstGeom prst="roundRect">
            <a:avLst>
              <a:gd name="adj" fmla="val 50000"/>
            </a:avLst>
          </a:prstGeom>
          <a:solidFill>
            <a:srgbClr val="FF9900">
              <a:alpha val="12000"/>
            </a:srgbClr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95859" y="894259"/>
            <a:ext cx="288303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COMMUNITY DAY · AHMEDABAD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12767" y="2173552"/>
            <a:ext cx="10883460" cy="168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28"/>
              </a:lnSpc>
              <a:buNone/>
            </a:pPr>
            <a:r>
              <a:rPr lang="en-US" sz="64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Strands</a:t>
            </a:r>
            <a:endParaRPr lang="en-US" sz="6400" dirty="0"/>
          </a:p>
          <a:p>
            <a:pPr algn="l" indent="0" marL="0">
              <a:lnSpc>
                <a:spcPts val="6528"/>
              </a:lnSpc>
              <a:buNone/>
            </a:pPr>
            <a:r>
              <a:rPr lang="en-US" sz="64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Agents</a:t>
            </a:r>
            <a:endParaRPr lang="en-US" sz="6400" dirty="0"/>
          </a:p>
        </p:txBody>
      </p:sp>
      <p:sp>
        <p:nvSpPr>
          <p:cNvPr id="8" name="Text 4"/>
          <p:cNvSpPr/>
          <p:nvPr/>
        </p:nvSpPr>
        <p:spPr>
          <a:xfrm>
            <a:off x="812767" y="4009264"/>
            <a:ext cx="7521575" cy="594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model-driven approach to building AI agents — and how to read its architecture instead of memorizing its API.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2767" y="5580476"/>
            <a:ext cx="3146253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Ashish Patel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12767" y="5849607"/>
            <a:ext cx="31462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Senior Principal Architect · AI/ML &amp; Data Science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321767" y="5867466"/>
            <a:ext cx="211919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= Agent(model, tools)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109927"/>
            <a:ext cx="10883460" cy="521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42" y="1914376"/>
            <a:ext cx="5188000" cy="857515"/>
          </a:xfrm>
          <a:prstGeom prst="roundRect">
            <a:avLst>
              <a:gd name="adj" fmla="val 1147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209" y="2119643"/>
            <a:ext cx="274373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97165" y="2119643"/>
            <a:ext cx="27109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Strands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97165" y="2370997"/>
            <a:ext cx="271098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SDK vs. harness — a library, not a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88058" y="1914376"/>
            <a:ext cx="5188000" cy="857515"/>
          </a:xfrm>
          <a:prstGeom prst="roundRect">
            <a:avLst>
              <a:gd name="adj" fmla="val 1147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3325" y="2119643"/>
            <a:ext cx="303229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98138" y="2119643"/>
            <a:ext cx="2957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Loop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98138" y="2370997"/>
            <a:ext cx="295770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diagram that explains everything else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942" y="2956007"/>
            <a:ext cx="5188000" cy="857515"/>
          </a:xfrm>
          <a:prstGeom prst="roundRect">
            <a:avLst>
              <a:gd name="adj" fmla="val 1147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209" y="3161274"/>
            <a:ext cx="306040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28833" y="3161274"/>
            <a:ext cx="29589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 &amp; Models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28833" y="3412629"/>
            <a:ext cx="295898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ways to extend, four providers to swap 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8058" y="2956007"/>
            <a:ext cx="5188000" cy="857515"/>
          </a:xfrm>
          <a:prstGeom prst="roundRect">
            <a:avLst>
              <a:gd name="adj" fmla="val 1147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3325" y="3161274"/>
            <a:ext cx="311745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06654" y="3161274"/>
            <a:ext cx="2821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&amp; MCP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06654" y="3412629"/>
            <a:ext cx="282101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Memory, sessions, and external tool servers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5942" y="3997639"/>
            <a:ext cx="5188000" cy="857515"/>
          </a:xfrm>
          <a:prstGeom prst="roundRect">
            <a:avLst>
              <a:gd name="adj" fmla="val 1147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209" y="4202906"/>
            <a:ext cx="304469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27262" y="4202906"/>
            <a:ext cx="2576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 Patterns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7262" y="4454260"/>
            <a:ext cx="2576088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Tools, workflow, graph, swarm, and A2A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8058" y="3997639"/>
            <a:ext cx="5188000" cy="857515"/>
          </a:xfrm>
          <a:prstGeom prst="roundRect">
            <a:avLst>
              <a:gd name="adj" fmla="val 1147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3325" y="4202906"/>
            <a:ext cx="308107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03016" y="4202906"/>
            <a:ext cx="30138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03016" y="4454260"/>
            <a:ext cx="3013825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Observability, evaluation, security, 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/ 22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109926"/>
            <a:ext cx="10883460" cy="521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library, not a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767" y="2524289"/>
            <a:ext cx="5708119" cy="723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Strands runs inside your own process, not on a hosted agent platform.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767" y="3425775"/>
            <a:ext cx="470916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That's the architectural decision everything else follows from. You import it, you own the runtime, and the agent logic doesn't fundamentally change when you swap the model provider underneath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67" y="4695527"/>
            <a:ext cx="4709160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Strands also separates two layers on purpose — worth knowing before you open a single doc page.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1014" y="2266073"/>
            <a:ext cx="4618219" cy="1523752"/>
          </a:xfrm>
          <a:prstGeom prst="roundRect">
            <a:avLst>
              <a:gd name="adj" fmla="val 8335"/>
            </a:avLst>
          </a:prstGeom>
          <a:solidFill>
            <a:srgbClr val="14181F"/>
          </a:solidFill>
          <a:ln/>
        </p:spPr>
      </p:sp>
      <p:sp>
        <p:nvSpPr>
          <p:cNvPr id="8" name="Text 6"/>
          <p:cNvSpPr/>
          <p:nvPr/>
        </p:nvSpPr>
        <p:spPr>
          <a:xfrm>
            <a:off x="7015014" y="2520073"/>
            <a:ext cx="4233526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50" kern="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HARNESS SDK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15014" y="2773990"/>
            <a:ext cx="423352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primitives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15014" y="3093971"/>
            <a:ext cx="4233526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Agent, the loop, tools, models, state. You assemble the pieces yourself.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7364" y="3948559"/>
            <a:ext cx="4605519" cy="1532219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5597" y="4206791"/>
            <a:ext cx="4211724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5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STRANDS HARNESS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25597" y="4460709"/>
            <a:ext cx="42117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 defaults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25597" y="4780690"/>
            <a:ext cx="4211724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Pre-wired decisions built on top of the SDK, for when you'd rather not decide everything yourself.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/ 22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084543"/>
            <a:ext cx="10883460" cy="463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Strands architecture map</a:t>
            </a:r>
            <a:endParaRPr lang="en-US" sz="30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-25" b="-25"/>
          <a:stretch/>
        </p:blipFill>
        <p:spPr>
          <a:xfrm>
            <a:off x="6045150" y="2449711"/>
            <a:ext cx="101534" cy="419034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-32" r="-32" t="0" b="0"/>
          <a:stretch/>
        </p:blipFill>
        <p:spPr>
          <a:xfrm>
            <a:off x="2666917" y="2767211"/>
            <a:ext cx="3479767" cy="101534"/>
          </a:xfrm>
          <a:prstGeom prst="rect">
            <a:avLst/>
          </a:prstGeom>
        </p:spPr>
      </p:pic>
      <p:pic>
        <p:nvPicPr>
          <p:cNvPr id="6" name="Image 2" descr="connector">    </p:cNvPr>
          <p:cNvPicPr>
            <a:picLocks noChangeAspect="1"/>
          </p:cNvPicPr>
          <p:nvPr/>
        </p:nvPicPr>
        <p:blipFill>
          <a:blip r:embed="rId3"/>
          <a:srcRect l="0" r="0" t="-25" b="-25"/>
          <a:stretch/>
        </p:blipFill>
        <p:spPr>
          <a:xfrm>
            <a:off x="2666917" y="2767211"/>
            <a:ext cx="101534" cy="419034"/>
          </a:xfrm>
          <a:prstGeom prst="rect">
            <a:avLst/>
          </a:prstGeom>
        </p:spPr>
      </p:pic>
      <p:pic>
        <p:nvPicPr>
          <p:cNvPr id="7" name="Image 3" descr="connector">    </p:cNvPr>
          <p:cNvPicPr>
            <a:picLocks noChangeAspect="1"/>
          </p:cNvPicPr>
          <p:nvPr/>
        </p:nvPicPr>
        <p:blipFill>
          <a:blip r:embed="rId4"/>
          <a:srcRect l="0" r="0" t="-25" b="-25"/>
          <a:stretch/>
        </p:blipFill>
        <p:spPr>
          <a:xfrm>
            <a:off x="6045150" y="2767211"/>
            <a:ext cx="101534" cy="419034"/>
          </a:xfrm>
          <a:prstGeom prst="rect">
            <a:avLst/>
          </a:prstGeom>
        </p:spPr>
      </p:pic>
      <p:pic>
        <p:nvPicPr>
          <p:cNvPr id="8" name="Image 4" descr="connector">    </p:cNvPr>
          <p:cNvPicPr>
            <a:picLocks noChangeAspect="1"/>
          </p:cNvPicPr>
          <p:nvPr/>
        </p:nvPicPr>
        <p:blipFill>
          <a:blip r:embed="rId5"/>
          <a:srcRect l="-32" r="-32" t="0" b="0"/>
          <a:stretch/>
        </p:blipFill>
        <p:spPr>
          <a:xfrm>
            <a:off x="6045150" y="2767211"/>
            <a:ext cx="3479767" cy="101534"/>
          </a:xfrm>
          <a:prstGeom prst="rect">
            <a:avLst/>
          </a:prstGeom>
        </p:spPr>
      </p:pic>
      <p:pic>
        <p:nvPicPr>
          <p:cNvPr id="9" name="Image 5" descr="connector">    </p:cNvPr>
          <p:cNvPicPr>
            <a:picLocks noChangeAspect="1"/>
          </p:cNvPicPr>
          <p:nvPr/>
        </p:nvPicPr>
        <p:blipFill>
          <a:blip r:embed="rId6"/>
          <a:srcRect l="0" r="0" t="-25" b="-25"/>
          <a:stretch/>
        </p:blipFill>
        <p:spPr>
          <a:xfrm>
            <a:off x="9423301" y="2767211"/>
            <a:ext cx="101534" cy="419034"/>
          </a:xfrm>
          <a:prstGeom prst="rect">
            <a:avLst/>
          </a:prstGeom>
        </p:spPr>
      </p:pic>
      <p:pic>
        <p:nvPicPr>
          <p:cNvPr id="10" name="Image 6" descr="connector">    </p:cNvPr>
          <p:cNvPicPr>
            <a:picLocks noChangeAspect="1"/>
          </p:cNvPicPr>
          <p:nvPr/>
        </p:nvPicPr>
        <p:blipFill>
          <a:blip r:embed="rId7"/>
          <a:srcRect l="0" r="0" t="-25" b="-25"/>
          <a:stretch/>
        </p:blipFill>
        <p:spPr>
          <a:xfrm>
            <a:off x="6045150" y="3910211"/>
            <a:ext cx="101534" cy="419034"/>
          </a:xfrm>
          <a:prstGeom prst="rect">
            <a:avLst/>
          </a:prstGeom>
        </p:spPr>
      </p:pic>
      <p:pic>
        <p:nvPicPr>
          <p:cNvPr id="11" name="Image 7" descr="connector">    </p:cNvPr>
          <p:cNvPicPr>
            <a:picLocks noChangeAspect="1"/>
          </p:cNvPicPr>
          <p:nvPr/>
        </p:nvPicPr>
        <p:blipFill>
          <a:blip r:embed="rId8"/>
          <a:srcRect l="-32" r="-32" t="0" b="0"/>
          <a:stretch/>
        </p:blipFill>
        <p:spPr>
          <a:xfrm>
            <a:off x="3174917" y="4227711"/>
            <a:ext cx="2971767" cy="101534"/>
          </a:xfrm>
          <a:prstGeom prst="rect">
            <a:avLst/>
          </a:prstGeom>
        </p:spPr>
      </p:pic>
      <p:pic>
        <p:nvPicPr>
          <p:cNvPr id="12" name="Image 8" descr="connector">    </p:cNvPr>
          <p:cNvPicPr>
            <a:picLocks noChangeAspect="1"/>
          </p:cNvPicPr>
          <p:nvPr/>
        </p:nvPicPr>
        <p:blipFill>
          <a:blip r:embed="rId9"/>
          <a:srcRect l="0" r="0" t="-25" b="-25"/>
          <a:stretch/>
        </p:blipFill>
        <p:spPr>
          <a:xfrm>
            <a:off x="3174917" y="4227711"/>
            <a:ext cx="101534" cy="419034"/>
          </a:xfrm>
          <a:prstGeom prst="rect">
            <a:avLst/>
          </a:prstGeom>
        </p:spPr>
      </p:pic>
      <p:pic>
        <p:nvPicPr>
          <p:cNvPr id="13" name="Image 9" descr="connector">    </p:cNvPr>
          <p:cNvPicPr>
            <a:picLocks noChangeAspect="1"/>
          </p:cNvPicPr>
          <p:nvPr/>
        </p:nvPicPr>
        <p:blipFill>
          <a:blip r:embed="rId10"/>
          <a:srcRect l="-32" r="-32" t="0" b="0"/>
          <a:stretch/>
        </p:blipFill>
        <p:spPr>
          <a:xfrm>
            <a:off x="6045150" y="4227711"/>
            <a:ext cx="2463767" cy="101534"/>
          </a:xfrm>
          <a:prstGeom prst="rect">
            <a:avLst/>
          </a:prstGeom>
        </p:spPr>
      </p:pic>
      <p:pic>
        <p:nvPicPr>
          <p:cNvPr id="14" name="Image 10" descr="connector">    </p:cNvPr>
          <p:cNvPicPr>
            <a:picLocks noChangeAspect="1"/>
          </p:cNvPicPr>
          <p:nvPr/>
        </p:nvPicPr>
        <p:blipFill>
          <a:blip r:embed="rId11"/>
          <a:srcRect l="0" r="0" t="-25" b="-25"/>
          <a:stretch/>
        </p:blipFill>
        <p:spPr>
          <a:xfrm>
            <a:off x="8407301" y="4227711"/>
            <a:ext cx="101534" cy="419034"/>
          </a:xfrm>
          <a:prstGeom prst="rect">
            <a:avLst/>
          </a:prstGeom>
        </p:spPr>
      </p:pic>
      <p:sp>
        <p:nvSpPr>
          <p:cNvPr id="15" name="Shape 2"/>
          <p:cNvSpPr/>
          <p:nvPr/>
        </p:nvSpPr>
        <p:spPr>
          <a:xfrm>
            <a:off x="4451267" y="1681411"/>
            <a:ext cx="3289300" cy="812800"/>
          </a:xfrm>
          <a:prstGeom prst="roundRect">
            <a:avLst>
              <a:gd name="adj" fmla="val 11719"/>
            </a:avLst>
          </a:prstGeom>
          <a:solidFill>
            <a:srgbClr val="14181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3"/>
          <p:cNvSpPr/>
          <p:nvPr/>
        </p:nvSpPr>
        <p:spPr>
          <a:xfrm>
            <a:off x="5561045" y="1857953"/>
            <a:ext cx="112046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Loop</a:t>
            </a:r>
            <a:endParaRPr lang="en-US" sz="1600" dirty="0"/>
          </a:p>
        </p:txBody>
      </p:sp>
      <p:sp>
        <p:nvSpPr>
          <p:cNvPr id="17" name="Text 4"/>
          <p:cNvSpPr/>
          <p:nvPr/>
        </p:nvSpPr>
        <p:spPr>
          <a:xfrm>
            <a:off x="5433632" y="2139817"/>
            <a:ext cx="1375288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orchestrates every turn</a:t>
            </a:r>
            <a:endParaRPr lang="en-US" sz="1000" dirty="0"/>
          </a:p>
        </p:txBody>
      </p:sp>
      <p:sp>
        <p:nvSpPr>
          <p:cNvPr id="18" name="Shape 5"/>
          <p:cNvSpPr/>
          <p:nvPr/>
        </p:nvSpPr>
        <p:spPr>
          <a:xfrm>
            <a:off x="1260442" y="3138736"/>
            <a:ext cx="2914650" cy="819150"/>
          </a:xfrm>
          <a:prstGeom prst="roundRect">
            <a:avLst>
              <a:gd name="adj" fmla="val 1201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9" name="Text 6"/>
          <p:cNvSpPr/>
          <p:nvPr/>
        </p:nvSpPr>
        <p:spPr>
          <a:xfrm>
            <a:off x="2465999" y="3333750"/>
            <a:ext cx="5543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1400" dirty="0"/>
          </a:p>
        </p:txBody>
      </p:sp>
      <p:sp>
        <p:nvSpPr>
          <p:cNvPr id="20" name="Text 7"/>
          <p:cNvSpPr/>
          <p:nvPr/>
        </p:nvSpPr>
        <p:spPr>
          <a:xfrm>
            <a:off x="1630577" y="3585104"/>
            <a:ext cx="223961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Bedrock · OpenAI · Anthropic · Google</a:t>
            </a:r>
            <a:endParaRPr lang="en-US" sz="1000" dirty="0"/>
          </a:p>
        </p:txBody>
      </p:sp>
      <p:sp>
        <p:nvSpPr>
          <p:cNvPr id="21" name="Shape 8"/>
          <p:cNvSpPr/>
          <p:nvPr/>
        </p:nvSpPr>
        <p:spPr>
          <a:xfrm>
            <a:off x="4638592" y="3138736"/>
            <a:ext cx="2914650" cy="819150"/>
          </a:xfrm>
          <a:prstGeom prst="roundRect">
            <a:avLst>
              <a:gd name="adj" fmla="val 1201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2" name="Text 9"/>
          <p:cNvSpPr/>
          <p:nvPr/>
        </p:nvSpPr>
        <p:spPr>
          <a:xfrm>
            <a:off x="5879455" y="3333750"/>
            <a:ext cx="4836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</a:t>
            </a:r>
            <a:endParaRPr lang="en-US" sz="1400" dirty="0"/>
          </a:p>
        </p:txBody>
      </p:sp>
      <p:sp>
        <p:nvSpPr>
          <p:cNvPr id="23" name="Text 10"/>
          <p:cNvSpPr/>
          <p:nvPr/>
        </p:nvSpPr>
        <p:spPr>
          <a:xfrm>
            <a:off x="4988057" y="3585104"/>
            <a:ext cx="2282192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· Vended · MCP · Agent-as-tool</a:t>
            </a:r>
            <a:endParaRPr lang="en-US" sz="1000" dirty="0"/>
          </a:p>
        </p:txBody>
      </p:sp>
      <p:sp>
        <p:nvSpPr>
          <p:cNvPr id="24" name="Shape 11"/>
          <p:cNvSpPr/>
          <p:nvPr/>
        </p:nvSpPr>
        <p:spPr>
          <a:xfrm>
            <a:off x="8016825" y="3138736"/>
            <a:ext cx="2914650" cy="819150"/>
          </a:xfrm>
          <a:prstGeom prst="roundRect">
            <a:avLst>
              <a:gd name="adj" fmla="val 1201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5" name="Text 12"/>
          <p:cNvSpPr/>
          <p:nvPr/>
        </p:nvSpPr>
        <p:spPr>
          <a:xfrm>
            <a:off x="9255042" y="3333750"/>
            <a:ext cx="489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</a:t>
            </a:r>
            <a:endParaRPr lang="en-US" sz="1400" dirty="0"/>
          </a:p>
        </p:txBody>
      </p:sp>
      <p:sp>
        <p:nvSpPr>
          <p:cNvPr id="26" name="Text 13"/>
          <p:cNvSpPr/>
          <p:nvPr/>
        </p:nvSpPr>
        <p:spPr>
          <a:xfrm>
            <a:off x="8739188" y="3585104"/>
            <a:ext cx="1520643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 · Memory · Hooks</a:t>
            </a:r>
            <a:endParaRPr lang="en-US" sz="1000" dirty="0"/>
          </a:p>
        </p:txBody>
      </p:sp>
      <p:sp>
        <p:nvSpPr>
          <p:cNvPr id="27" name="Shape 14"/>
          <p:cNvSpPr/>
          <p:nvPr/>
        </p:nvSpPr>
        <p:spPr>
          <a:xfrm>
            <a:off x="815942" y="4599236"/>
            <a:ext cx="4819650" cy="819150"/>
          </a:xfrm>
          <a:prstGeom prst="roundRect">
            <a:avLst>
              <a:gd name="adj" fmla="val 1201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8" name="Text 15"/>
          <p:cNvSpPr/>
          <p:nvPr/>
        </p:nvSpPr>
        <p:spPr>
          <a:xfrm>
            <a:off x="2740339" y="4794250"/>
            <a:ext cx="10215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29" name="Text 16"/>
          <p:cNvSpPr/>
          <p:nvPr/>
        </p:nvSpPr>
        <p:spPr>
          <a:xfrm>
            <a:off x="2312624" y="5045604"/>
            <a:ext cx="188099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· Graph · Swarm · A2A</a:t>
            </a:r>
            <a:endParaRPr lang="en-US" sz="1000" dirty="0"/>
          </a:p>
        </p:txBody>
      </p:sp>
      <p:sp>
        <p:nvSpPr>
          <p:cNvPr id="30" name="Shape 17"/>
          <p:cNvSpPr/>
          <p:nvPr/>
        </p:nvSpPr>
        <p:spPr>
          <a:xfrm>
            <a:off x="6048325" y="4599236"/>
            <a:ext cx="4819650" cy="819150"/>
          </a:xfrm>
          <a:prstGeom prst="roundRect">
            <a:avLst>
              <a:gd name="adj" fmla="val 1201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31" name="Text 18"/>
          <p:cNvSpPr/>
          <p:nvPr/>
        </p:nvSpPr>
        <p:spPr>
          <a:xfrm>
            <a:off x="8006209" y="4794250"/>
            <a:ext cx="95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32" name="Text 19"/>
          <p:cNvSpPr/>
          <p:nvPr/>
        </p:nvSpPr>
        <p:spPr>
          <a:xfrm>
            <a:off x="7427102" y="5045604"/>
            <a:ext cx="2123874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 · Evaluate · Secure · Deploy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TODAY'S REPO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084542"/>
            <a:ext cx="10883460" cy="463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folder per stage — same order as this talk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67" y="1725826"/>
            <a:ext cx="5619419" cy="4116172"/>
          </a:xfrm>
          <a:prstGeom prst="roundRect">
            <a:avLst>
              <a:gd name="adj" fmla="val 3085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1041301" y="1954361"/>
            <a:ext cx="5317222" cy="2492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workshop/</a:t>
            </a:r>
            <a:endParaRPr lang="en-US" sz="105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model_provider.py</a:t>
            </a:r>
            <a:r>
              <a:rPr lang="en-US" sz="10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shared Ollama→Bedrock resolver</a:t>
            </a:r>
            <a:endParaRPr lang="en-US" sz="105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01-quickstart/</a:t>
            </a:r>
            <a:r>
              <a:rPr lang="en-US" sz="10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Agent/model/tools shape</a:t>
            </a:r>
            <a:endParaRPr lang="en-US" sz="105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02-agent-loop/</a:t>
            </a:r>
            <a:r>
              <a:rPr lang="en-US" sz="10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the loop itself</a:t>
            </a:r>
            <a:endParaRPr lang="en-US" sz="105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03-tools/</a:t>
            </a:r>
            <a:r>
              <a:rPr lang="en-US" sz="10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custom, vended, agent-as-tool</a:t>
            </a:r>
            <a:endParaRPr lang="en-US" sz="105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04-model-providers/</a:t>
            </a:r>
            <a:r>
              <a:rPr lang="en-US" sz="10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concept only, no script</a:t>
            </a:r>
            <a:endParaRPr lang="en-US" sz="105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05-state-memory/</a:t>
            </a:r>
            <a:r>
              <a:rPr lang="en-US" sz="10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session vs long-term memory</a:t>
            </a:r>
            <a:endParaRPr lang="en-US" sz="105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06-mcp/</a:t>
            </a:r>
            <a:r>
              <a:rPr lang="en-US" sz="10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MCP server / client</a:t>
            </a:r>
            <a:endParaRPr lang="en-US" sz="105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07-multi-agent/</a:t>
            </a:r>
            <a:r>
              <a:rPr lang="en-US" sz="10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Workflow, Graph</a:t>
            </a:r>
            <a:endParaRPr lang="en-US" sz="1050" dirty="0"/>
          </a:p>
          <a:p>
            <a:pPr algn="l" indent="0" marL="0">
              <a:lnSpc>
                <a:spcPts val="1943"/>
              </a:lnSpc>
              <a:buNone/>
            </a:pPr>
            <a:r>
              <a:rPr lang="en-US" sz="1050" dirty="0">
                <a:solidFill>
                  <a:srgbClr val="B7C0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08-production/</a:t>
            </a:r>
            <a:r>
              <a:rPr lang="en-US" sz="105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deploy, meta-tooling, vision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86186" y="2126637"/>
            <a:ext cx="4693047" cy="0"/>
          </a:xfrm>
          <a:prstGeom prst="line">
            <a:avLst/>
          </a:prstGeom>
          <a:noFill/>
          <a:ln w="6350">
            <a:solidFill>
              <a:srgbClr val="E4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86186" y="1827361"/>
            <a:ext cx="125730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0:00–0:15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2686" y="1827361"/>
            <a:ext cx="359114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Welcome &amp; architecture 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86186" y="2530622"/>
            <a:ext cx="4693047" cy="0"/>
          </a:xfrm>
          <a:prstGeom prst="line">
            <a:avLst/>
          </a:prstGeom>
          <a:noFill/>
          <a:ln w="6350">
            <a:solidFill>
              <a:srgbClr val="E4E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86186" y="2231346"/>
            <a:ext cx="125730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0:15–1:00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92686" y="2231346"/>
            <a:ext cx="359114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1 · Agent Basics &amp; Loop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86186" y="2934609"/>
            <a:ext cx="4693047" cy="0"/>
          </a:xfrm>
          <a:prstGeom prst="line">
            <a:avLst/>
          </a:prstGeom>
          <a:noFill/>
          <a:ln w="6350">
            <a:solidFill>
              <a:srgbClr val="E4E1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86186" y="2635331"/>
            <a:ext cx="125730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1:00–1:50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92686" y="2635331"/>
            <a:ext cx="359114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2 · 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86186" y="3338594"/>
            <a:ext cx="4693047" cy="0"/>
          </a:xfrm>
          <a:prstGeom prst="line">
            <a:avLst/>
          </a:prstGeom>
          <a:noFill/>
          <a:ln w="6350">
            <a:solidFill>
              <a:srgbClr val="E4E1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6186" y="3039318"/>
            <a:ext cx="125730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2:00–2:50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92686" y="3039318"/>
            <a:ext cx="359114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3 · Multi-Agent Patterns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86186" y="3742579"/>
            <a:ext cx="4693047" cy="0"/>
          </a:xfrm>
          <a:prstGeom prst="line">
            <a:avLst/>
          </a:prstGeom>
          <a:noFill/>
          <a:ln w="6350">
            <a:solidFill>
              <a:srgbClr val="E4E1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6186" y="3443303"/>
            <a:ext cx="125730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2:50–3:30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92686" y="3443303"/>
            <a:ext cx="359114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4 · State &amp; Memory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86186" y="3847288"/>
            <a:ext cx="125730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3:30–4:00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92686" y="3847288"/>
            <a:ext cx="359114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5 · Production &amp; wrap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/ 22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MECHANIC · MODULE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071891"/>
            <a:ext cx="10883460" cy="434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agent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67" y="1562280"/>
            <a:ext cx="830792" cy="252677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39767" y="1613080"/>
            <a:ext cx="627592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94325" y="1608665"/>
            <a:ext cx="165150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59442" y="1562280"/>
            <a:ext cx="820539" cy="252677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986442" y="1613080"/>
            <a:ext cx="617339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30748" y="1608665"/>
            <a:ext cx="165150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99040" y="1560165"/>
            <a:ext cx="666767" cy="2569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8156" y="1613082"/>
            <a:ext cx="459333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19748" y="1608665"/>
            <a:ext cx="165150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88039" y="1560165"/>
            <a:ext cx="785168" cy="2569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7156" y="1613082"/>
            <a:ext cx="577734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12767" y="1896399"/>
            <a:ext cx="10883460" cy="21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—</a:t>
            </a:r>
            <a:r>
              <a:rPr lang="en-US" sz="10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turning a stateless LLM into something that can act — call functions, chain steps — without you hand-writing that control flow.</a:t>
            </a:r>
            <a:endParaRPr lang="en-US" sz="1050" dirty="0"/>
          </a:p>
        </p:txBody>
      </p:sp>
      <p:pic>
        <p:nvPicPr>
          <p:cNvPr id="16" name="Image 0" descr="Loop from tool call back to model, and from final answer back to us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67" y="2159248"/>
            <a:ext cx="10566135" cy="3301917"/>
          </a:xfrm>
          <a:prstGeom prst="rect">
            <a:avLst/>
          </a:prstGeom>
        </p:spPr>
      </p:pic>
      <p:pic>
        <p:nvPicPr>
          <p:cNvPr id="17" name="Image 1" descr="connector">    </p:cNvPr>
          <p:cNvPicPr>
            <a:picLocks noChangeAspect="1"/>
          </p:cNvPicPr>
          <p:nvPr/>
        </p:nvPicPr>
        <p:blipFill>
          <a:blip r:embed="rId2"/>
          <a:srcRect l="0" r="0" t="-21" b="-21"/>
          <a:stretch/>
        </p:blipFill>
        <p:spPr>
          <a:xfrm>
            <a:off x="6045150" y="2616398"/>
            <a:ext cx="101534" cy="292034"/>
          </a:xfrm>
          <a:prstGeom prst="rect">
            <a:avLst/>
          </a:prstGeom>
        </p:spPr>
      </p:pic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0" r="0" t="-23" b="-23"/>
          <a:stretch/>
        </p:blipFill>
        <p:spPr>
          <a:xfrm>
            <a:off x="6045150" y="3314898"/>
            <a:ext cx="101534" cy="355534"/>
          </a:xfrm>
          <a:prstGeom prst="rect">
            <a:avLst/>
          </a:prstGeom>
        </p:spPr>
      </p:pic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-22" b="-22"/>
          <a:stretch/>
        </p:blipFill>
        <p:spPr>
          <a:xfrm>
            <a:off x="6045150" y="4140398"/>
            <a:ext cx="101534" cy="323784"/>
          </a:xfrm>
          <a:prstGeom prst="rect">
            <a:avLst/>
          </a:prstGeom>
        </p:spPr>
      </p:pic>
      <p:pic>
        <p:nvPicPr>
          <p:cNvPr id="20" name="Image 4" descr="connector">    </p:cNvPr>
          <p:cNvPicPr>
            <a:picLocks noChangeAspect="1"/>
          </p:cNvPicPr>
          <p:nvPr/>
        </p:nvPicPr>
        <p:blipFill>
          <a:blip r:embed="rId5"/>
          <a:srcRect l="-32" r="-32" t="0" b="0"/>
          <a:stretch/>
        </p:blipFill>
        <p:spPr>
          <a:xfrm>
            <a:off x="2666917" y="4362648"/>
            <a:ext cx="3479767" cy="101534"/>
          </a:xfrm>
          <a:prstGeom prst="rect">
            <a:avLst/>
          </a:prstGeom>
        </p:spPr>
      </p:pic>
      <p:pic>
        <p:nvPicPr>
          <p:cNvPr id="21" name="Image 5" descr="connector">    </p:cNvPr>
          <p:cNvPicPr>
            <a:picLocks noChangeAspect="1"/>
          </p:cNvPicPr>
          <p:nvPr/>
        </p:nvPicPr>
        <p:blipFill>
          <a:blip r:embed="rId6"/>
          <a:srcRect l="0" r="0" t="-22" b="-22"/>
          <a:stretch/>
        </p:blipFill>
        <p:spPr>
          <a:xfrm>
            <a:off x="2666917" y="4362648"/>
            <a:ext cx="101534" cy="323784"/>
          </a:xfrm>
          <a:prstGeom prst="rect">
            <a:avLst/>
          </a:prstGeom>
        </p:spPr>
      </p:pic>
      <p:pic>
        <p:nvPicPr>
          <p:cNvPr id="22" name="Image 6" descr="connector">    </p:cNvPr>
          <p:cNvPicPr>
            <a:picLocks noChangeAspect="1"/>
          </p:cNvPicPr>
          <p:nvPr/>
        </p:nvPicPr>
        <p:blipFill>
          <a:blip r:embed="rId7"/>
          <a:srcRect l="-32" r="-32" t="0" b="0"/>
          <a:stretch/>
        </p:blipFill>
        <p:spPr>
          <a:xfrm>
            <a:off x="6045150" y="4362648"/>
            <a:ext cx="3479767" cy="101534"/>
          </a:xfrm>
          <a:prstGeom prst="rect">
            <a:avLst/>
          </a:prstGeom>
        </p:spPr>
      </p:pic>
      <p:pic>
        <p:nvPicPr>
          <p:cNvPr id="23" name="Image 7" descr="connector">    </p:cNvPr>
          <p:cNvPicPr>
            <a:picLocks noChangeAspect="1"/>
          </p:cNvPicPr>
          <p:nvPr/>
        </p:nvPicPr>
        <p:blipFill>
          <a:blip r:embed="rId8"/>
          <a:srcRect l="0" r="0" t="-22" b="-22"/>
          <a:stretch/>
        </p:blipFill>
        <p:spPr>
          <a:xfrm>
            <a:off x="9423301" y="4362648"/>
            <a:ext cx="101534" cy="32378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4829092" y="2162423"/>
            <a:ext cx="2533650" cy="501650"/>
          </a:xfrm>
          <a:prstGeom prst="roundRect">
            <a:avLst>
              <a:gd name="adj" fmla="val 17089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5919308" y="2314194"/>
            <a:ext cx="4040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4829092" y="2860923"/>
            <a:ext cx="2533650" cy="501650"/>
          </a:xfrm>
          <a:prstGeom prst="roundRect">
            <a:avLst>
              <a:gd name="adj" fmla="val 17089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5870442" y="3012694"/>
            <a:ext cx="50174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4832267" y="3626098"/>
            <a:ext cx="2527300" cy="558800"/>
          </a:xfrm>
          <a:prstGeom prst="roundRect">
            <a:avLst>
              <a:gd name="adj" fmla="val 14773"/>
            </a:avLst>
          </a:prstGeom>
          <a:solidFill>
            <a:srgbClr val="14181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629754" y="3806444"/>
            <a:ext cx="983125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(LLM)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1260442" y="4638923"/>
            <a:ext cx="2914650" cy="6286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2426312" y="4758364"/>
            <a:ext cx="633627" cy="2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2031256" y="4979209"/>
            <a:ext cx="1423822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executes, returns a result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8016825" y="4638923"/>
            <a:ext cx="2914650" cy="6286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9022457" y="4758364"/>
            <a:ext cx="954104" cy="2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8884047" y="4979209"/>
            <a:ext cx="1230924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more tools needed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812767" y="5537398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turn: the model decides — call a tool and loop back, or answer and stop. That decision is the whole of Strands' runtime.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SCREEN · MODULE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767" y="1041301"/>
            <a:ext cx="10883460" cy="37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loop, live: weather forecaster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767" y="1493242"/>
            <a:ext cx="771426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27067" y="1537692"/>
            <a:ext cx="59362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4960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3710" y="1493242"/>
            <a:ext cx="761752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8" name="Text 6"/>
          <p:cNvSpPr/>
          <p:nvPr/>
        </p:nvSpPr>
        <p:spPr>
          <a:xfrm>
            <a:off x="1908010" y="1537692"/>
            <a:ext cx="58395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06229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4979" y="1493242"/>
            <a:ext cx="613006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2879279" y="1537692"/>
            <a:ext cx="43520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8752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87502" y="1493242"/>
            <a:ext cx="724462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01802" y="1537692"/>
            <a:ext cx="54666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2767" y="1825789"/>
            <a:ext cx="6049615" cy="4016210"/>
          </a:xfrm>
          <a:prstGeom prst="roundRect">
            <a:avLst>
              <a:gd name="adj" fmla="val 3162"/>
            </a:avLst>
          </a:prstGeom>
          <a:solidFill>
            <a:srgbClr val="1418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767" y="2079789"/>
            <a:ext cx="5707864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1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02-agent-loop/1-weather_forecaster.py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6767" y="2359090"/>
            <a:ext cx="5707864" cy="2835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3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strands </a:t>
            </a:r>
            <a:r>
              <a:rPr lang="en-US" sz="11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Agent</a:t>
            </a: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strands.vended_tools </a:t>
            </a:r>
            <a:r>
              <a:rPr lang="en-US" sz="11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http_request, web_fetch</a:t>
            </a: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model_provider </a:t>
            </a:r>
            <a:r>
              <a:rPr lang="en-US" sz="11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get_model</a:t>
            </a: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weather_agent = Agent(</a:t>
            </a: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model=get_model(),</a:t>
            </a: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system_prompt=WEATHER_SYSTEM_PROMPT,</a:t>
            </a: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tools=[http_request, web_fetch],</a:t>
            </a: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endParaRPr lang="en-US" sz="1150" dirty="0"/>
          </a:p>
          <a:p>
            <a:pPr algn="l" indent="0" marL="0">
              <a:lnSpc>
                <a:spcPts val="2013"/>
              </a:lnSpc>
              <a:buNone/>
            </a:pP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weather_agent(</a:t>
            </a:r>
            <a:r>
              <a:rPr lang="en-US" sz="11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"Weather in Seattle?"</a:t>
            </a:r>
            <a:r>
              <a:rPr lang="en-US" sz="11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22732" y="2697411"/>
            <a:ext cx="4250151" cy="1715360"/>
          </a:xfrm>
          <a:prstGeom prst="roundRect">
            <a:avLst>
              <a:gd name="adj" fmla="val 5553"/>
            </a:avLst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0115" y="2904793"/>
            <a:ext cx="3950445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5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· EXPLANATION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30115" y="3146059"/>
            <a:ext cx="39504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Loop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30115" y="3422879"/>
            <a:ext cx="3950445" cy="807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→ Agent → Model → tool call → Tool → result → Model again → final answer. The model decides, unprompted, to chain two HTTP calls: grid lookup, then forecast fetch.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16382" y="4571504"/>
            <a:ext cx="4390736" cy="430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"wow" opener — real API, real data, the loop visibly branches into a tool call and back, twice, before answering.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/ 22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EXTENDING THE AGENT · MODULE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071891"/>
            <a:ext cx="10883460" cy="434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ways to add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67" y="1638514"/>
            <a:ext cx="830792" cy="252677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39767" y="1689314"/>
            <a:ext cx="627592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94325" y="1684899"/>
            <a:ext cx="165150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59442" y="1638514"/>
            <a:ext cx="820539" cy="252677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986442" y="1689314"/>
            <a:ext cx="617339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30748" y="1684899"/>
            <a:ext cx="165150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99040" y="1636396"/>
            <a:ext cx="666767" cy="2569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8156" y="1689313"/>
            <a:ext cx="459333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19748" y="1684899"/>
            <a:ext cx="165150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88039" y="1636396"/>
            <a:ext cx="785168" cy="2569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7156" y="1689313"/>
            <a:ext cx="577734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12767" y="2048867"/>
            <a:ext cx="10883460" cy="21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—</a:t>
            </a:r>
            <a:r>
              <a:rPr lang="en-US" sz="10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 LLM alone can't read a file, call an API, or run code. Tools are how it acts on external systems.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5942" y="2391122"/>
            <a:ext cx="5188000" cy="1631752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6592" y="2621772"/>
            <a:ext cx="406383" cy="406383"/>
          </a:xfrm>
          <a:prstGeom prst="roundRect">
            <a:avLst>
              <a:gd name="adj" fmla="val 21876"/>
            </a:avLst>
          </a:prstGeom>
          <a:solidFill>
            <a:srgbClr val="14181F"/>
          </a:solidFill>
          <a:ln/>
        </p:spPr>
      </p:sp>
      <p:pic>
        <p:nvPicPr>
          <p:cNvPr id="18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8209" y="2723387"/>
            <a:ext cx="203150" cy="2031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46592" y="3142422"/>
            <a:ext cx="4868499" cy="143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tool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46592" y="3374842"/>
            <a:ext cx="4868499" cy="23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146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Python function you write, decorated and handed straight to the agent.</a:t>
            </a:r>
            <a:endParaRPr lang="en-US" sz="1146" dirty="0"/>
          </a:p>
        </p:txBody>
      </p:sp>
      <p:sp>
        <p:nvSpPr>
          <p:cNvPr id="21" name="Text 18"/>
          <p:cNvSpPr/>
          <p:nvPr/>
        </p:nvSpPr>
        <p:spPr>
          <a:xfrm>
            <a:off x="1046592" y="3700363"/>
            <a:ext cx="4868499" cy="11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@tool def search(query): …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6188058" y="2391122"/>
            <a:ext cx="5188000" cy="1631752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18709" y="2621772"/>
            <a:ext cx="406383" cy="406383"/>
          </a:xfrm>
          <a:prstGeom prst="roundRect">
            <a:avLst>
              <a:gd name="adj" fmla="val 21876"/>
            </a:avLst>
          </a:prstGeom>
          <a:solidFill>
            <a:srgbClr val="14181F"/>
          </a:solidFill>
          <a:ln/>
        </p:spPr>
      </p:sp>
      <p:pic>
        <p:nvPicPr>
          <p:cNvPr id="24" name="Image 1" descr="Wren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20325" y="2723387"/>
            <a:ext cx="203150" cy="2031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18709" y="3142422"/>
            <a:ext cx="4868499" cy="18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1059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Vended tool</a:t>
            </a:r>
            <a:endParaRPr lang="en-US" sz="1059" dirty="0"/>
          </a:p>
        </p:txBody>
      </p:sp>
      <p:sp>
        <p:nvSpPr>
          <p:cNvPr id="26" name="Text 22"/>
          <p:cNvSpPr/>
          <p:nvPr/>
        </p:nvSpPr>
        <p:spPr>
          <a:xfrm>
            <a:off x="6418709" y="3414365"/>
            <a:ext cx="4868499" cy="166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2"/>
              </a:lnSpc>
              <a:buNone/>
            </a:pPr>
            <a:r>
              <a:rPr lang="en-US" sz="80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Pre-built capabilities Strands ships, ready to import and attach.</a:t>
            </a:r>
            <a:endParaRPr lang="en-US" sz="801" dirty="0"/>
          </a:p>
        </p:txBody>
      </p:sp>
      <p:sp>
        <p:nvSpPr>
          <p:cNvPr id="27" name="Text 23"/>
          <p:cNvSpPr/>
          <p:nvPr/>
        </p:nvSpPr>
        <p:spPr>
          <a:xfrm>
            <a:off x="6418709" y="3669605"/>
            <a:ext cx="4868499" cy="14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1"/>
              </a:lnSpc>
              <a:buNone/>
            </a:pPr>
            <a:r>
              <a:rPr lang="en-US" sz="694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strands_tools import calculator</a:t>
            </a:r>
            <a:endParaRPr lang="en-US" sz="694" dirty="0"/>
          </a:p>
        </p:txBody>
      </p:sp>
      <p:sp>
        <p:nvSpPr>
          <p:cNvPr id="28" name="Shape 24"/>
          <p:cNvSpPr/>
          <p:nvPr/>
        </p:nvSpPr>
        <p:spPr>
          <a:xfrm>
            <a:off x="815942" y="4206987"/>
            <a:ext cx="5188000" cy="1631834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46592" y="4437639"/>
            <a:ext cx="406383" cy="406383"/>
          </a:xfrm>
          <a:prstGeom prst="roundRect">
            <a:avLst>
              <a:gd name="adj" fmla="val 21876"/>
            </a:avLst>
          </a:prstGeom>
          <a:solidFill>
            <a:srgbClr val="14181F"/>
          </a:solidFill>
          <a:ln/>
        </p:spPr>
      </p:sp>
      <p:pic>
        <p:nvPicPr>
          <p:cNvPr id="30" name="Image 2" descr="Lin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48209" y="4539258"/>
            <a:ext cx="203150" cy="2031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46592" y="4958290"/>
            <a:ext cx="4868499" cy="143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tool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046592" y="5190710"/>
            <a:ext cx="4868499" cy="23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4"/>
              </a:lnSpc>
              <a:buNone/>
            </a:pPr>
            <a:r>
              <a:rPr lang="en-US" sz="1017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capability exposed through the Model Context Protocol, from an external server.</a:t>
            </a:r>
            <a:endParaRPr lang="en-US" sz="1017" dirty="0"/>
          </a:p>
        </p:txBody>
      </p:sp>
      <p:sp>
        <p:nvSpPr>
          <p:cNvPr id="33" name="Text 28"/>
          <p:cNvSpPr/>
          <p:nvPr/>
        </p:nvSpPr>
        <p:spPr>
          <a:xfrm>
            <a:off x="1046592" y="5516314"/>
            <a:ext cx="4868499" cy="11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MCPClient(...).list_tools()</a:t>
            </a:r>
            <a:endParaRPr lang="en-US" sz="600" dirty="0"/>
          </a:p>
        </p:txBody>
      </p:sp>
      <p:sp>
        <p:nvSpPr>
          <p:cNvPr id="34" name="Shape 29"/>
          <p:cNvSpPr/>
          <p:nvPr/>
        </p:nvSpPr>
        <p:spPr>
          <a:xfrm>
            <a:off x="6188058" y="4206987"/>
            <a:ext cx="5188000" cy="1631834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418709" y="4437639"/>
            <a:ext cx="406383" cy="406383"/>
          </a:xfrm>
          <a:prstGeom prst="roundRect">
            <a:avLst>
              <a:gd name="adj" fmla="val 21876"/>
            </a:avLst>
          </a:prstGeom>
          <a:solidFill>
            <a:srgbClr val="14181F"/>
          </a:solidFill>
          <a:ln/>
        </p:spPr>
      </p:sp>
      <p:pic>
        <p:nvPicPr>
          <p:cNvPr id="36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20325" y="4539258"/>
            <a:ext cx="203150" cy="20315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418709" y="4958290"/>
            <a:ext cx="4868499" cy="143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Agent-as-tool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6418709" y="5190710"/>
            <a:ext cx="4868499" cy="23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1067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agent becomes a callable capability of another — the seed of multi-agent.</a:t>
            </a:r>
            <a:endParaRPr lang="en-US" sz="1067" dirty="0"/>
          </a:p>
        </p:txBody>
      </p:sp>
      <p:sp>
        <p:nvSpPr>
          <p:cNvPr id="39" name="Text 33"/>
          <p:cNvSpPr/>
          <p:nvPr/>
        </p:nvSpPr>
        <p:spPr>
          <a:xfrm>
            <a:off x="6418709" y="5516314"/>
            <a:ext cx="4868499" cy="11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tools=[research_agent]</a:t>
            </a:r>
            <a:endParaRPr lang="en-US" sz="600" dirty="0"/>
          </a:p>
        </p:txBody>
      </p:sp>
      <p:sp>
        <p:nvSpPr>
          <p:cNvPr id="40" name="Text 34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/ 22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SCREEN · 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767" y="1041301"/>
            <a:ext cx="10883460" cy="37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Vended tools, then agent-as-tool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767" y="1493242"/>
            <a:ext cx="771426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27067" y="1537692"/>
            <a:ext cx="59362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4960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3710" y="1493242"/>
            <a:ext cx="761752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8" name="Text 6"/>
          <p:cNvSpPr/>
          <p:nvPr/>
        </p:nvSpPr>
        <p:spPr>
          <a:xfrm>
            <a:off x="1908010" y="1537692"/>
            <a:ext cx="58395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06229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4979" y="1493242"/>
            <a:ext cx="613006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2879279" y="1537692"/>
            <a:ext cx="43520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8752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87502" y="1493242"/>
            <a:ext cx="724462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01802" y="1537692"/>
            <a:ext cx="54666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2767" y="1825786"/>
            <a:ext cx="4759110" cy="3505895"/>
          </a:xfrm>
          <a:prstGeom prst="roundRect">
            <a:avLst>
              <a:gd name="adj" fmla="val 3622"/>
            </a:avLst>
          </a:prstGeom>
          <a:solidFill>
            <a:srgbClr val="1418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5917" y="2028937"/>
            <a:ext cx="4483393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91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03-tools/1-file_operations.py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15917" y="2286657"/>
            <a:ext cx="4483393" cy="1612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strands_tools </a:t>
            </a:r>
            <a:r>
              <a:rPr lang="en-US" sz="10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file_read, file_write, editor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file_agent = Agent(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model=model,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tools=[file_read, file_write, editor],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5917" y="3962549"/>
            <a:ext cx="4483393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Vended — pre-built, just import and attach.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49644" y="1825786"/>
            <a:ext cx="5629589" cy="3505895"/>
          </a:xfrm>
          <a:prstGeom prst="roundRect">
            <a:avLst>
              <a:gd name="adj" fmla="val 3622"/>
            </a:avLst>
          </a:prstGeom>
          <a:solidFill>
            <a:srgbClr val="14181F"/>
          </a:solidFill>
          <a:ln/>
        </p:spPr>
      </p:sp>
      <p:sp>
        <p:nvSpPr>
          <p:cNvPr id="20" name="Text 18"/>
          <p:cNvSpPr/>
          <p:nvPr/>
        </p:nvSpPr>
        <p:spPr>
          <a:xfrm>
            <a:off x="5952794" y="2028937"/>
            <a:ext cx="5379987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91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03-tools/2-teachers_assistant.py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52794" y="2286657"/>
            <a:ext cx="5379987" cy="2065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@tool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math_assistant(query: str) -&gt; str: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agent = Agent(model=model,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tools=[calculator])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str(agent(query))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teacher_agent = Agent(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tools=[math_assistant, language_assistant, ...],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52794" y="4415979"/>
            <a:ext cx="5379987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tool + agent-as-tool in one — the pattern Module 3 builds on.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2767" y="5433219"/>
            <a:ext cx="1088346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Explanation —</a:t>
            </a:r>
            <a:r>
              <a:rPr lang="en-US" sz="11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model decides it needs a tool, emits a structured call, Strands executes it, the result re-enters the conversation. Custom tool = a function inside your app; MCP = a protocol to an external, reusable server. Next up.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/ 22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INTERFACE, TWO BACKENDS · MODULE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767" y="1041301"/>
            <a:ext cx="10883460" cy="40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Swap the model, not the 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767" y="1515232"/>
            <a:ext cx="771426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27067" y="1559682"/>
            <a:ext cx="59362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4960" y="1555167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3710" y="1515232"/>
            <a:ext cx="761752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908010" y="1559682"/>
            <a:ext cx="58395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06229" y="1555167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8154" y="1513117"/>
            <a:ext cx="617240" cy="235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4570" y="1559684"/>
            <a:ext cx="435207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39335" y="1555167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01260" y="1513117"/>
            <a:ext cx="728696" cy="235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7677" y="1559684"/>
            <a:ext cx="54666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2767" y="1840421"/>
            <a:ext cx="10883460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—</a:t>
            </a: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getting from "works on my laptop" to something a team can rely on, without rewriting the agent for a different backend.</a:t>
            </a:r>
            <a:endParaRPr lang="en-US" sz="950" dirty="0"/>
          </a:p>
        </p:txBody>
      </p:sp>
      <p:pic>
        <p:nvPicPr>
          <p:cNvPr id="16" name="Image 0" descr="connector">    </p:cNvPr>
          <p:cNvPicPr>
            <a:picLocks noChangeAspect="1"/>
          </p:cNvPicPr>
          <p:nvPr/>
        </p:nvPicPr>
        <p:blipFill>
          <a:blip r:embed="rId1"/>
          <a:srcRect l="0" r="0" t="-26" b="-26"/>
          <a:stretch/>
        </p:blipFill>
        <p:spPr>
          <a:xfrm>
            <a:off x="6045150" y="2618792"/>
            <a:ext cx="101534" cy="482534"/>
          </a:xfrm>
          <a:prstGeom prst="rect">
            <a:avLst/>
          </a:prstGeom>
        </p:spPr>
      </p:pic>
      <p:pic>
        <p:nvPicPr>
          <p:cNvPr id="17" name="Image 1" descr="connector">    </p:cNvPr>
          <p:cNvPicPr>
            <a:picLocks noChangeAspect="1"/>
          </p:cNvPicPr>
          <p:nvPr/>
        </p:nvPicPr>
        <p:blipFill>
          <a:blip r:embed="rId2"/>
          <a:srcRect l="0" r="0" t="-25" b="-25"/>
          <a:stretch/>
        </p:blipFill>
        <p:spPr>
          <a:xfrm>
            <a:off x="6045150" y="3634792"/>
            <a:ext cx="101534" cy="419034"/>
          </a:xfrm>
          <a:prstGeom prst="rect">
            <a:avLst/>
          </a:prstGeom>
        </p:spPr>
      </p:pic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-32" r="-32" t="0" b="0"/>
          <a:stretch/>
        </p:blipFill>
        <p:spPr>
          <a:xfrm>
            <a:off x="3936917" y="3952292"/>
            <a:ext cx="2209767" cy="101534"/>
          </a:xfrm>
          <a:prstGeom prst="rect">
            <a:avLst/>
          </a:prstGeom>
        </p:spPr>
      </p:pic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-25" b="-25"/>
          <a:stretch/>
        </p:blipFill>
        <p:spPr>
          <a:xfrm>
            <a:off x="3936917" y="3952292"/>
            <a:ext cx="101534" cy="419034"/>
          </a:xfrm>
          <a:prstGeom prst="rect">
            <a:avLst/>
          </a:prstGeom>
        </p:spPr>
      </p:pic>
      <p:pic>
        <p:nvPicPr>
          <p:cNvPr id="20" name="Image 4" descr="connector">    </p:cNvPr>
          <p:cNvPicPr>
            <a:picLocks noChangeAspect="1"/>
          </p:cNvPicPr>
          <p:nvPr/>
        </p:nvPicPr>
        <p:blipFill>
          <a:blip r:embed="rId5"/>
          <a:srcRect l="-32" r="-32" t="0" b="0"/>
          <a:stretch/>
        </p:blipFill>
        <p:spPr>
          <a:xfrm>
            <a:off x="6045150" y="3952292"/>
            <a:ext cx="2209767" cy="101534"/>
          </a:xfrm>
          <a:prstGeom prst="rect">
            <a:avLst/>
          </a:prstGeom>
        </p:spPr>
      </p:pic>
      <p:pic>
        <p:nvPicPr>
          <p:cNvPr id="21" name="Image 5" descr="connector">    </p:cNvPr>
          <p:cNvPicPr>
            <a:picLocks noChangeAspect="1"/>
          </p:cNvPicPr>
          <p:nvPr/>
        </p:nvPicPr>
        <p:blipFill>
          <a:blip r:embed="rId6"/>
          <a:srcRect l="0" r="0" t="-25" b="-25"/>
          <a:stretch/>
        </p:blipFill>
        <p:spPr>
          <a:xfrm>
            <a:off x="8153301" y="3952292"/>
            <a:ext cx="101534" cy="41903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829092" y="2101317"/>
            <a:ext cx="2533650" cy="565150"/>
          </a:xfrm>
          <a:prstGeom prst="roundRect">
            <a:avLst>
              <a:gd name="adj" fmla="val 15169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853079" y="2277232"/>
            <a:ext cx="5363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197267" y="3056992"/>
            <a:ext cx="3797300" cy="622300"/>
          </a:xfrm>
          <a:prstGeom prst="roundRect">
            <a:avLst>
              <a:gd name="adj" fmla="val 13265"/>
            </a:avLst>
          </a:prstGeom>
          <a:solidFill>
            <a:srgbClr val="14181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591473" y="3261482"/>
            <a:ext cx="10596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get_model()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2085942" y="4323817"/>
            <a:ext cx="3803650" cy="81915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694493" y="4518831"/>
            <a:ext cx="6373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3186327" y="4770189"/>
            <a:ext cx="1653679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· primary · qwen3.5:4b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02325" y="4323817"/>
            <a:ext cx="3803650" cy="81915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862094" y="4518831"/>
            <a:ext cx="734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Bedrock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6922657" y="4770189"/>
            <a:ext cx="263979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fallback · Anthropic · Qwen · DeepSeek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812767" y="5489029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 logic doesn't change when Ollama swaps to Bedrock — same code, different backend. Proven live in Module 5.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22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SCREEN · THE SWAP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767" y="1041301"/>
            <a:ext cx="10883460" cy="37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resolver, every script uses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767" y="1493242"/>
            <a:ext cx="771426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27067" y="1537692"/>
            <a:ext cx="59362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4960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3710" y="1493242"/>
            <a:ext cx="761752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8" name="Text 6"/>
          <p:cNvSpPr/>
          <p:nvPr/>
        </p:nvSpPr>
        <p:spPr>
          <a:xfrm>
            <a:off x="1908010" y="1537692"/>
            <a:ext cx="58395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06229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4979" y="1493242"/>
            <a:ext cx="613006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2879279" y="1537692"/>
            <a:ext cx="43520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8752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87502" y="1493242"/>
            <a:ext cx="724462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01802" y="1537692"/>
            <a:ext cx="54666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2767" y="1825786"/>
            <a:ext cx="6049615" cy="4016210"/>
          </a:xfrm>
          <a:prstGeom prst="roundRect">
            <a:avLst>
              <a:gd name="adj" fmla="val 3162"/>
            </a:avLst>
          </a:prstGeom>
          <a:solidFill>
            <a:srgbClr val="1418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767" y="2079786"/>
            <a:ext cx="5707864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1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model_provider.py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6767" y="2359087"/>
            <a:ext cx="5707864" cy="2470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get_model():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model = OllamaModel(host=OLLAMA_HOST,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model_id=</a:t>
            </a: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"qwen3.5:4b"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Agent(model=model)(</a:t>
            </a: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"ping"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model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Exception: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BedrockModel(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model_id=BEDROCK_MODEL_ID,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region_name=</a:t>
            </a: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"ap-south-1"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22732" y="2704685"/>
            <a:ext cx="4250151" cy="1291034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0115" y="2912070"/>
            <a:ext cx="3950445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5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· EXPLANATION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30115" y="3153333"/>
            <a:ext cx="3950445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Interface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30115" y="3414942"/>
            <a:ext cx="3950445" cy="398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example script imports get_model() instead of constructing a model directly — the swap happens once, here.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16382" y="4129069"/>
            <a:ext cx="4262851" cy="840383"/>
          </a:xfrm>
          <a:prstGeom prst="roundRect">
            <a:avLst>
              <a:gd name="adj" fmla="val 12090"/>
            </a:avLst>
          </a:prstGeom>
          <a:solidFill>
            <a:srgbClr val="F1EEE4"/>
          </a:solidFill>
          <a:ln/>
        </p:spPr>
      </p:sp>
      <p:sp>
        <p:nvSpPr>
          <p:cNvPr id="23" name="Text 21"/>
          <p:cNvSpPr/>
          <p:nvPr/>
        </p:nvSpPr>
        <p:spPr>
          <a:xfrm>
            <a:off x="7268766" y="4281450"/>
            <a:ext cx="4076827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KNOWN ISSUE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8766" y="4479392"/>
            <a:ext cx="4076827" cy="363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Bedrock returns ValidationException account-wide until AWS Support clears it — demo the fallback triggering, don't force a live Bedrock call.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22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BETWEEN TURNS · MODULE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767" y="1041301"/>
            <a:ext cx="10883460" cy="40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State, session &amp; memory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767" y="1553350"/>
            <a:ext cx="771426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27067" y="1597800"/>
            <a:ext cx="59362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4960" y="1593286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3710" y="1553350"/>
            <a:ext cx="761752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908010" y="1597800"/>
            <a:ext cx="58395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06229" y="1593286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8154" y="1551236"/>
            <a:ext cx="617240" cy="235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4570" y="1597802"/>
            <a:ext cx="435207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39335" y="1593286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01260" y="1551236"/>
            <a:ext cx="728696" cy="235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7677" y="1597802"/>
            <a:ext cx="54666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2767" y="1916658"/>
            <a:ext cx="10883460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—</a:t>
            </a: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 LLM call is stateless by default. Real assistants need to remember facts across separate invocations, not just within one conversation.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82791" y="2215666"/>
            <a:ext cx="2660650" cy="469321"/>
          </a:xfrm>
          <a:prstGeom prst="roundRect">
            <a:avLst>
              <a:gd name="adj" fmla="val 1826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3389" y="2334778"/>
            <a:ext cx="1030254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request</a:t>
            </a:r>
            <a:endParaRPr lang="en-US" sz="1300" dirty="0"/>
          </a:p>
        </p:txBody>
      </p:sp>
      <p:pic>
        <p:nvPicPr>
          <p:cNvPr id="18" name="Image 0" descr="arrow-down">    </p:cNvPr>
          <p:cNvPicPr>
            <a:picLocks noChangeAspect="1"/>
          </p:cNvPicPr>
          <p:nvPr/>
        </p:nvPicPr>
        <p:blipFill>
          <a:blip r:embed="rId1"/>
          <a:srcRect l="-161" r="-161" t="0" b="0"/>
          <a:stretch/>
        </p:blipFill>
        <p:spPr>
          <a:xfrm>
            <a:off x="3136883" y="2764315"/>
            <a:ext cx="152383" cy="1392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882791" y="2982875"/>
            <a:ext cx="2660650" cy="469321"/>
          </a:xfrm>
          <a:prstGeom prst="roundRect">
            <a:avLst>
              <a:gd name="adj" fmla="val 1826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17031" y="3101987"/>
            <a:ext cx="642971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</a:t>
            </a:r>
            <a:endParaRPr lang="en-US" sz="1300" dirty="0"/>
          </a:p>
        </p:txBody>
      </p:sp>
      <p:pic>
        <p:nvPicPr>
          <p:cNvPr id="21" name="Image 1" descr="arrow-down">    </p:cNvPr>
          <p:cNvPicPr>
            <a:picLocks noChangeAspect="1"/>
          </p:cNvPicPr>
          <p:nvPr/>
        </p:nvPicPr>
        <p:blipFill>
          <a:blip r:embed="rId2"/>
          <a:srcRect l="-191" r="-191" t="0" b="0"/>
          <a:stretch/>
        </p:blipFill>
        <p:spPr>
          <a:xfrm>
            <a:off x="3136883" y="3531524"/>
            <a:ext cx="152383" cy="139154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758966" y="3753179"/>
            <a:ext cx="2908300" cy="1315260"/>
          </a:xfrm>
          <a:prstGeom prst="roundRect">
            <a:avLst>
              <a:gd name="adj" fmla="val 6276"/>
            </a:avLst>
          </a:prstGeom>
          <a:solidFill>
            <a:srgbClr val="14181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966350" y="3909795"/>
            <a:ext cx="2568338" cy="18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03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</a:t>
            </a:r>
            <a:endParaRPr lang="en-US" sz="1103" dirty="0"/>
          </a:p>
        </p:txBody>
      </p:sp>
      <p:sp>
        <p:nvSpPr>
          <p:cNvPr id="24" name="Text 20"/>
          <p:cNvSpPr/>
          <p:nvPr/>
        </p:nvSpPr>
        <p:spPr>
          <a:xfrm>
            <a:off x="1966350" y="4123941"/>
            <a:ext cx="2568338" cy="18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909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instructions</a:t>
            </a:r>
            <a:endParaRPr lang="en-US" sz="909" dirty="0"/>
          </a:p>
        </p:txBody>
      </p:sp>
      <p:sp>
        <p:nvSpPr>
          <p:cNvPr id="25" name="Text 21"/>
          <p:cNvSpPr/>
          <p:nvPr/>
        </p:nvSpPr>
        <p:spPr>
          <a:xfrm>
            <a:off x="1966350" y="4333627"/>
            <a:ext cx="2568338" cy="184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909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</a:t>
            </a:r>
            <a:endParaRPr lang="en-US" sz="909" dirty="0"/>
          </a:p>
        </p:txBody>
      </p:sp>
      <p:sp>
        <p:nvSpPr>
          <p:cNvPr id="26" name="Text 22"/>
          <p:cNvSpPr/>
          <p:nvPr/>
        </p:nvSpPr>
        <p:spPr>
          <a:xfrm>
            <a:off x="1966350" y="4543227"/>
            <a:ext cx="2568338" cy="18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909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calls &amp; results</a:t>
            </a:r>
            <a:endParaRPr lang="en-US" sz="909" dirty="0"/>
          </a:p>
        </p:txBody>
      </p:sp>
      <p:sp>
        <p:nvSpPr>
          <p:cNvPr id="27" name="Text 23"/>
          <p:cNvSpPr/>
          <p:nvPr/>
        </p:nvSpPr>
        <p:spPr>
          <a:xfrm>
            <a:off x="1966350" y="4752907"/>
            <a:ext cx="2568338" cy="18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909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</a:t>
            </a:r>
            <a:endParaRPr lang="en-US" sz="909" dirty="0"/>
          </a:p>
        </p:txBody>
      </p:sp>
      <p:pic>
        <p:nvPicPr>
          <p:cNvPr id="28" name="Image 2" descr="arrow-down">    </p:cNvPr>
          <p:cNvPicPr>
            <a:picLocks noChangeAspect="1"/>
          </p:cNvPicPr>
          <p:nvPr/>
        </p:nvPicPr>
        <p:blipFill>
          <a:blip r:embed="rId3"/>
          <a:srcRect l="-161" r="-161" t="0" b="0"/>
          <a:stretch/>
        </p:blipFill>
        <p:spPr>
          <a:xfrm>
            <a:off x="3136883" y="5150941"/>
            <a:ext cx="152383" cy="139237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1882791" y="5369502"/>
            <a:ext cx="2660650" cy="469321"/>
          </a:xfrm>
          <a:prstGeom prst="roundRect">
            <a:avLst>
              <a:gd name="adj" fmla="val 18266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979291" y="5488614"/>
            <a:ext cx="518368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5969000" y="2212491"/>
            <a:ext cx="5410233" cy="3629504"/>
          </a:xfrm>
          <a:prstGeom prst="roundRect">
            <a:avLst>
              <a:gd name="adj" fmla="val 3499"/>
            </a:avLst>
          </a:prstGeom>
          <a:solidFill>
            <a:srgbClr val="F1EEE4"/>
          </a:solidFill>
          <a:ln/>
        </p:spPr>
      </p:sp>
      <p:sp>
        <p:nvSpPr>
          <p:cNvPr id="32" name="Text 27"/>
          <p:cNvSpPr/>
          <p:nvPr/>
        </p:nvSpPr>
        <p:spPr>
          <a:xfrm>
            <a:off x="6273767" y="3186571"/>
            <a:ext cx="494472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5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 THESE BEFORE YOU READ THE API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273767" y="3491340"/>
            <a:ext cx="494472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the agent remember?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273767" y="3867212"/>
            <a:ext cx="494472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is that state stored?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273767" y="4243090"/>
            <a:ext cx="494472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does context disappear?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6273767" y="4618961"/>
            <a:ext cx="494472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 past the context window?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22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SCREEN · MODULE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767" y="1041301"/>
            <a:ext cx="10883460" cy="37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Store or retrieve — decided in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767" y="1493242"/>
            <a:ext cx="771426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27067" y="1537692"/>
            <a:ext cx="59362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4960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3710" y="1493242"/>
            <a:ext cx="761752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8" name="Text 6"/>
          <p:cNvSpPr/>
          <p:nvPr/>
        </p:nvSpPr>
        <p:spPr>
          <a:xfrm>
            <a:off x="1908010" y="1537692"/>
            <a:ext cx="58395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06229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4979" y="1493242"/>
            <a:ext cx="613006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2879279" y="1537692"/>
            <a:ext cx="43520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8752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87502" y="1493242"/>
            <a:ext cx="724462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01802" y="1537692"/>
            <a:ext cx="54666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2767" y="1825786"/>
            <a:ext cx="6049615" cy="4016210"/>
          </a:xfrm>
          <a:prstGeom prst="roundRect">
            <a:avLst>
              <a:gd name="adj" fmla="val 3162"/>
            </a:avLst>
          </a:prstGeom>
          <a:solidFill>
            <a:srgbClr val="1418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767" y="2079786"/>
            <a:ext cx="5707864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91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05-state-memory/1-knowledge_base_agent.py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6767" y="2359087"/>
            <a:ext cx="5707864" cy="2470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handle_query(query):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action = determine_action(query)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"store"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action: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agent.tool.memory(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action=</a:t>
            </a: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"store"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content=query)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"Stored."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retrieved = agent.tool.memory(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action=</a:t>
            </a: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"retrieve"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query=query)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answerer(f</a:t>
            </a: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"Context: {retrieved}"</a:t>
            </a:r>
            <a:r>
              <a:rPr lang="en-US" sz="11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22732" y="2433569"/>
            <a:ext cx="4250151" cy="1664427"/>
          </a:xfrm>
          <a:prstGeom prst="roundRect">
            <a:avLst>
              <a:gd name="adj" fmla="val 5723"/>
            </a:avLst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0115" y="2640955"/>
            <a:ext cx="3950445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5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· EXPLANATION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30115" y="2882218"/>
            <a:ext cx="3950445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Session vs. memory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30115" y="3143827"/>
            <a:ext cx="3950445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Store: content gets embedded and saved. Retrieve: the query gets embedded too, the store returns whatever's closest by similarity — no framework magic, just an if/else and a memory tool call.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16382" y="4231345"/>
            <a:ext cx="4262851" cy="1009220"/>
          </a:xfrm>
          <a:prstGeom prst="roundRect">
            <a:avLst>
              <a:gd name="adj" fmla="val 10067"/>
            </a:avLst>
          </a:prstGeom>
          <a:solidFill>
            <a:srgbClr val="F1EEE4"/>
          </a:solidFill>
          <a:ln/>
        </p:spPr>
      </p:sp>
      <p:sp>
        <p:nvSpPr>
          <p:cNvPr id="23" name="Text 21"/>
          <p:cNvSpPr/>
          <p:nvPr/>
        </p:nvSpPr>
        <p:spPr>
          <a:xfrm>
            <a:off x="7268766" y="4383732"/>
            <a:ext cx="4076827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ALSO ON SCREEN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8766" y="4581674"/>
            <a:ext cx="4076827" cy="53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2-memory_agent.py — mem0 + FAISS. Needed a hand-rolled config: the packaged tool hardcodes an embedding dimension that didn't match the embedder.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22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REACHING OUTSIDE THE PROCESS · 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767" y="1041301"/>
            <a:ext cx="10883460" cy="40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MCP: tools as a protocol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767" y="1515232"/>
            <a:ext cx="771426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27067" y="1559682"/>
            <a:ext cx="59362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4960" y="1555167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3710" y="1515232"/>
            <a:ext cx="761752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908010" y="1559682"/>
            <a:ext cx="58395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06229" y="1555167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8154" y="1513117"/>
            <a:ext cx="617240" cy="235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4570" y="1559684"/>
            <a:ext cx="435207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39335" y="1555167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01260" y="1513117"/>
            <a:ext cx="728696" cy="235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7677" y="1559684"/>
            <a:ext cx="54666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2767" y="1840421"/>
            <a:ext cx="10883460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—</a:t>
            </a: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custom tool only lives inside one application. MCP makes a tool reusable across different agents and apps.</a:t>
            </a:r>
            <a:endParaRPr lang="en-US" sz="950" dirty="0"/>
          </a:p>
        </p:txBody>
      </p:sp>
      <p:pic>
        <p:nvPicPr>
          <p:cNvPr id="16" name="Image 0" descr="connector">    </p:cNvPr>
          <p:cNvPicPr>
            <a:picLocks noChangeAspect="1"/>
          </p:cNvPicPr>
          <p:nvPr/>
        </p:nvPicPr>
        <p:blipFill>
          <a:blip r:embed="rId1"/>
          <a:srcRect l="0" r="0" t="-26" b="-26"/>
          <a:stretch/>
        </p:blipFill>
        <p:spPr>
          <a:xfrm>
            <a:off x="6045150" y="2618792"/>
            <a:ext cx="101534" cy="482534"/>
          </a:xfrm>
          <a:prstGeom prst="rect">
            <a:avLst/>
          </a:prstGeom>
        </p:spPr>
      </p:pic>
      <p:pic>
        <p:nvPicPr>
          <p:cNvPr id="17" name="Image 1" descr="connector">    </p:cNvPr>
          <p:cNvPicPr>
            <a:picLocks noChangeAspect="1"/>
          </p:cNvPicPr>
          <p:nvPr/>
        </p:nvPicPr>
        <p:blipFill>
          <a:blip r:embed="rId2"/>
          <a:srcRect l="0" r="0" t="-23" b="-23"/>
          <a:stretch/>
        </p:blipFill>
        <p:spPr>
          <a:xfrm>
            <a:off x="6045150" y="3571292"/>
            <a:ext cx="101534" cy="355534"/>
          </a:xfrm>
          <a:prstGeom prst="rect">
            <a:avLst/>
          </a:prstGeom>
        </p:spPr>
      </p:pic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-32" r="-32" t="0" b="0"/>
          <a:stretch/>
        </p:blipFill>
        <p:spPr>
          <a:xfrm>
            <a:off x="3619417" y="3825292"/>
            <a:ext cx="2527267" cy="101534"/>
          </a:xfrm>
          <a:prstGeom prst="rect">
            <a:avLst/>
          </a:prstGeom>
        </p:spPr>
      </p:pic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-25" b="-25"/>
          <a:stretch/>
        </p:blipFill>
        <p:spPr>
          <a:xfrm>
            <a:off x="3619417" y="3825292"/>
            <a:ext cx="101534" cy="419034"/>
          </a:xfrm>
          <a:prstGeom prst="rect">
            <a:avLst/>
          </a:prstGeom>
        </p:spPr>
      </p:pic>
      <p:pic>
        <p:nvPicPr>
          <p:cNvPr id="20" name="Image 4" descr="connector">    </p:cNvPr>
          <p:cNvPicPr>
            <a:picLocks noChangeAspect="1"/>
          </p:cNvPicPr>
          <p:nvPr/>
        </p:nvPicPr>
        <p:blipFill>
          <a:blip r:embed="rId5"/>
          <a:srcRect l="-32" r="-32" t="0" b="0"/>
          <a:stretch/>
        </p:blipFill>
        <p:spPr>
          <a:xfrm>
            <a:off x="6045150" y="3825292"/>
            <a:ext cx="2527267" cy="101534"/>
          </a:xfrm>
          <a:prstGeom prst="rect">
            <a:avLst/>
          </a:prstGeom>
        </p:spPr>
      </p:pic>
      <p:pic>
        <p:nvPicPr>
          <p:cNvPr id="21" name="Image 5" descr="connector">    </p:cNvPr>
          <p:cNvPicPr>
            <a:picLocks noChangeAspect="1"/>
          </p:cNvPicPr>
          <p:nvPr/>
        </p:nvPicPr>
        <p:blipFill>
          <a:blip r:embed="rId6"/>
          <a:srcRect l="0" r="0" t="-25" b="-25"/>
          <a:stretch/>
        </p:blipFill>
        <p:spPr>
          <a:xfrm>
            <a:off x="8470801" y="3825292"/>
            <a:ext cx="101534" cy="41903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829092" y="2101317"/>
            <a:ext cx="2533650" cy="565150"/>
          </a:xfrm>
          <a:prstGeom prst="roundRect">
            <a:avLst>
              <a:gd name="adj" fmla="val 15169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511271" y="2277232"/>
            <a:ext cx="12200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Strands Agent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451267" y="3056992"/>
            <a:ext cx="3289300" cy="558800"/>
          </a:xfrm>
          <a:prstGeom prst="roundRect">
            <a:avLst>
              <a:gd name="adj" fmla="val 14773"/>
            </a:avLst>
          </a:prstGeom>
          <a:solidFill>
            <a:srgbClr val="14181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638684" y="3229732"/>
            <a:ext cx="965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Client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1704942" y="4196817"/>
            <a:ext cx="3930650" cy="1200150"/>
          </a:xfrm>
          <a:prstGeom prst="roundRect">
            <a:avLst>
              <a:gd name="adj" fmla="val 820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1884825" y="4376700"/>
            <a:ext cx="367800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Server A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1884825" y="4676341"/>
            <a:ext cx="685767" cy="304767"/>
          </a:xfrm>
          <a:prstGeom prst="roundRect">
            <a:avLst>
              <a:gd name="adj" fmla="val 16668"/>
            </a:avLst>
          </a:prstGeom>
          <a:solidFill>
            <a:srgbClr val="F1EEE4"/>
          </a:solidFill>
          <a:ln/>
        </p:spPr>
      </p:sp>
      <p:sp>
        <p:nvSpPr>
          <p:cNvPr id="29" name="Text 21"/>
          <p:cNvSpPr/>
          <p:nvPr/>
        </p:nvSpPr>
        <p:spPr>
          <a:xfrm>
            <a:off x="1999125" y="4739841"/>
            <a:ext cx="507967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2646743" y="4676341"/>
            <a:ext cx="838150" cy="304767"/>
          </a:xfrm>
          <a:prstGeom prst="roundRect">
            <a:avLst>
              <a:gd name="adj" fmla="val 16668"/>
            </a:avLst>
          </a:prstGeom>
          <a:solidFill>
            <a:srgbClr val="F1EEE4"/>
          </a:solidFill>
          <a:ln/>
        </p:spPr>
      </p:sp>
      <p:sp>
        <p:nvSpPr>
          <p:cNvPr id="31" name="Text 23"/>
          <p:cNvSpPr/>
          <p:nvPr/>
        </p:nvSpPr>
        <p:spPr>
          <a:xfrm>
            <a:off x="2761043" y="4739841"/>
            <a:ext cx="66035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556325" y="4196817"/>
            <a:ext cx="3930650" cy="1200150"/>
          </a:xfrm>
          <a:prstGeom prst="roundRect">
            <a:avLst>
              <a:gd name="adj" fmla="val 820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736209" y="4376700"/>
            <a:ext cx="367800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Server B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736209" y="4676341"/>
            <a:ext cx="685767" cy="304767"/>
          </a:xfrm>
          <a:prstGeom prst="roundRect">
            <a:avLst>
              <a:gd name="adj" fmla="val 16668"/>
            </a:avLst>
          </a:prstGeom>
          <a:solidFill>
            <a:srgbClr val="F1EEE4"/>
          </a:solidFill>
          <a:ln/>
        </p:spPr>
      </p:sp>
      <p:sp>
        <p:nvSpPr>
          <p:cNvPr id="35" name="Text 27"/>
          <p:cNvSpPr/>
          <p:nvPr/>
        </p:nvSpPr>
        <p:spPr>
          <a:xfrm>
            <a:off x="6850509" y="4739841"/>
            <a:ext cx="507967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7498126" y="4676341"/>
            <a:ext cx="914383" cy="304767"/>
          </a:xfrm>
          <a:prstGeom prst="roundRect">
            <a:avLst>
              <a:gd name="adj" fmla="val 16668"/>
            </a:avLst>
          </a:prstGeom>
          <a:solidFill>
            <a:srgbClr val="F1EEE4"/>
          </a:solidFill>
          <a:ln/>
        </p:spPr>
      </p:sp>
      <p:sp>
        <p:nvSpPr>
          <p:cNvPr id="37" name="Text 29"/>
          <p:cNvSpPr/>
          <p:nvPr/>
        </p:nvSpPr>
        <p:spPr>
          <a:xfrm>
            <a:off x="7612426" y="4739841"/>
            <a:ext cx="736583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slack api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812767" y="5489029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tool = a function inside your app. MCP = a standard protocol to a reusable, external tool server.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/ 22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SCREEN · 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767" y="1041301"/>
            <a:ext cx="10883460" cy="37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Server, then client — two terminals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767" y="1493242"/>
            <a:ext cx="771426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27067" y="1537692"/>
            <a:ext cx="59362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4960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3710" y="1493242"/>
            <a:ext cx="761752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8" name="Text 6"/>
          <p:cNvSpPr/>
          <p:nvPr/>
        </p:nvSpPr>
        <p:spPr>
          <a:xfrm>
            <a:off x="1908010" y="1537692"/>
            <a:ext cx="58395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06229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4979" y="1493242"/>
            <a:ext cx="613006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2879279" y="1537692"/>
            <a:ext cx="43520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8752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87502" y="1493242"/>
            <a:ext cx="724462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01802" y="1537692"/>
            <a:ext cx="54666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2767" y="1825786"/>
            <a:ext cx="5194350" cy="3203608"/>
          </a:xfrm>
          <a:prstGeom prst="roundRect">
            <a:avLst>
              <a:gd name="adj" fmla="val 3964"/>
            </a:avLst>
          </a:prstGeom>
          <a:solidFill>
            <a:srgbClr val="1418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5917" y="2028937"/>
            <a:ext cx="4931690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91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terminal 1 · server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15917" y="2286657"/>
            <a:ext cx="4931690" cy="1612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= FastMCP(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"Calculator"</a:t>
            </a: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@mcp.tool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add(x: int, y: int) -&gt; int: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x + y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mcp.run(transport=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"streamable-http"</a:t>
            </a: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4883" y="1825786"/>
            <a:ext cx="5194350" cy="3203608"/>
          </a:xfrm>
          <a:prstGeom prst="roundRect">
            <a:avLst>
              <a:gd name="adj" fmla="val 3964"/>
            </a:avLst>
          </a:prstGeom>
          <a:solidFill>
            <a:srgbClr val="14181F"/>
          </a:solidFill>
          <a:ln/>
        </p:spPr>
      </p:sp>
      <p:sp>
        <p:nvSpPr>
          <p:cNvPr id="19" name="Text 17"/>
          <p:cNvSpPr/>
          <p:nvPr/>
        </p:nvSpPr>
        <p:spPr>
          <a:xfrm>
            <a:off x="6388034" y="2028937"/>
            <a:ext cx="4931690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91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terminal 2 · client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88034" y="2286657"/>
            <a:ext cx="4931690" cy="1158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mcp_client = MCPClient(create_transport)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mcp_client: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tools = mcp_client.list_tools_sync()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agent = Agent(model=model, tools=tools)</a:t>
            </a: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agent(</a:t>
            </a:r>
            <a:r>
              <a:rPr lang="en-US" sz="10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"125 plus 375?"</a:t>
            </a:r>
            <a:r>
              <a:rPr lang="en-US" sz="10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2767" y="5130930"/>
            <a:ext cx="10883460" cy="21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Explanation —</a:t>
            </a:r>
            <a:r>
              <a:rPr lang="en-US" sz="10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client discovers the server's tools at runtime (list_tools_sync) and hands them to the agent like any other tool — the agent never knows the difference.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2767" y="5419161"/>
            <a:ext cx="10566466" cy="422837"/>
          </a:xfrm>
          <a:prstGeom prst="roundRect">
            <a:avLst>
              <a:gd name="adj" fmla="val 24028"/>
            </a:avLst>
          </a:prstGeom>
          <a:solidFill>
            <a:srgbClr val="F1EEE4"/>
          </a:solidFill>
          <a:ln/>
        </p:spPr>
      </p:sp>
      <p:pic>
        <p:nvPicPr>
          <p:cNvPr id="23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150" y="5554346"/>
            <a:ext cx="152383" cy="15238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19068" y="5546161"/>
            <a:ext cx="5593149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06-mcp/1-mcp_calculator.py — pre-start the server before demoing; don't fumble two terminals live.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/ 22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BEYOND ONE AGENT · MODULE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071891"/>
            <a:ext cx="10883460" cy="434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multi-agent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67" y="1638511"/>
            <a:ext cx="830792" cy="252677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39767" y="1689311"/>
            <a:ext cx="627592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94325" y="1684896"/>
            <a:ext cx="165150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59442" y="1638511"/>
            <a:ext cx="820539" cy="252677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986442" y="1689311"/>
            <a:ext cx="617339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30748" y="1684896"/>
            <a:ext cx="165150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99040" y="1636390"/>
            <a:ext cx="666767" cy="2569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8156" y="1689307"/>
            <a:ext cx="459333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19748" y="1684896"/>
            <a:ext cx="165150" cy="1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88039" y="1636390"/>
            <a:ext cx="785168" cy="2569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7156" y="1689307"/>
            <a:ext cx="577734" cy="176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12767" y="2048867"/>
            <a:ext cx="10883460" cy="212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—</a:t>
            </a:r>
            <a:r>
              <a:rPr lang="en-US" sz="10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one agent, one system prompt, one toolset gets unwieldy fast — mixing unrelated logic in one prompt fights itself.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5942" y="2391122"/>
            <a:ext cx="2005310" cy="3447703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5825" y="2571006"/>
            <a:ext cx="1645543" cy="424160"/>
          </a:xfrm>
          <a:prstGeom prst="roundRect">
            <a:avLst>
              <a:gd name="adj" fmla="val 14971"/>
            </a:avLst>
          </a:prstGeom>
          <a:solidFill>
            <a:srgbClr val="14181F"/>
          </a:solidFill>
          <a:ln/>
        </p:spPr>
      </p:sp>
      <p:sp>
        <p:nvSpPr>
          <p:cNvPr id="18" name="Text 16"/>
          <p:cNvSpPr/>
          <p:nvPr/>
        </p:nvSpPr>
        <p:spPr>
          <a:xfrm>
            <a:off x="1438920" y="2685269"/>
            <a:ext cx="810071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◆ → ● ● 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95825" y="3096692"/>
            <a:ext cx="1696343" cy="2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Agents-as-Tools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95825" y="3381040"/>
            <a:ext cx="1696343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orchestrator calls specialist agents like functions.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54602" y="2391122"/>
            <a:ext cx="2005393" cy="3447703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4486" y="2571006"/>
            <a:ext cx="1645626" cy="424160"/>
          </a:xfrm>
          <a:prstGeom prst="roundRect">
            <a:avLst>
              <a:gd name="adj" fmla="val 14971"/>
            </a:avLst>
          </a:prstGeom>
          <a:solidFill>
            <a:srgbClr val="14181F"/>
          </a:solidFill>
          <a:ln/>
        </p:spPr>
      </p:sp>
      <p:sp>
        <p:nvSpPr>
          <p:cNvPr id="23" name="Text 21"/>
          <p:cNvSpPr/>
          <p:nvPr/>
        </p:nvSpPr>
        <p:spPr>
          <a:xfrm>
            <a:off x="3422964" y="2685269"/>
            <a:ext cx="1119469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→ B → C → 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34486" y="3096692"/>
            <a:ext cx="1696426" cy="2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34486" y="3381040"/>
            <a:ext cx="1696426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— one fixed order, every time.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93345" y="2391122"/>
            <a:ext cx="2005310" cy="3447703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3229" y="2571006"/>
            <a:ext cx="1645543" cy="424160"/>
          </a:xfrm>
          <a:prstGeom prst="roundRect">
            <a:avLst>
              <a:gd name="adj" fmla="val 14971"/>
            </a:avLst>
          </a:prstGeom>
          <a:solidFill>
            <a:srgbClr val="14181F"/>
          </a:solidFill>
          <a:ln/>
        </p:spPr>
      </p:sp>
      <p:sp>
        <p:nvSpPr>
          <p:cNvPr id="28" name="Text 26"/>
          <p:cNvSpPr/>
          <p:nvPr/>
        </p:nvSpPr>
        <p:spPr>
          <a:xfrm>
            <a:off x="5641991" y="2685269"/>
            <a:ext cx="958817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→ B/C → 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3229" y="3096692"/>
            <a:ext cx="1696343" cy="2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73229" y="3381040"/>
            <a:ext cx="1696343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 routing decided at run time.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32005" y="2391122"/>
            <a:ext cx="2005393" cy="3447703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11889" y="2571006"/>
            <a:ext cx="1645626" cy="424160"/>
          </a:xfrm>
          <a:prstGeom prst="roundRect">
            <a:avLst>
              <a:gd name="adj" fmla="val 14971"/>
            </a:avLst>
          </a:prstGeom>
          <a:solidFill>
            <a:srgbClr val="14181F"/>
          </a:solidFill>
          <a:ln/>
        </p:spPr>
      </p:sp>
      <p:sp>
        <p:nvSpPr>
          <p:cNvPr id="33" name="Text 31"/>
          <p:cNvSpPr/>
          <p:nvPr/>
        </p:nvSpPr>
        <p:spPr>
          <a:xfrm>
            <a:off x="7864491" y="2685269"/>
            <a:ext cx="79122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↔ B ↔ 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11889" y="3096692"/>
            <a:ext cx="1696426" cy="2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Swarm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11889" y="3381040"/>
            <a:ext cx="1696426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 collaborate peer-to-peer, no fixed leader.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70747" y="2391122"/>
            <a:ext cx="2005310" cy="3447703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50631" y="2571006"/>
            <a:ext cx="1645543" cy="424160"/>
          </a:xfrm>
          <a:prstGeom prst="roundRect">
            <a:avLst>
              <a:gd name="adj" fmla="val 14971"/>
            </a:avLst>
          </a:prstGeom>
          <a:solidFill>
            <a:srgbClr val="14181F"/>
          </a:solidFill>
          <a:ln/>
        </p:spPr>
      </p:sp>
      <p:sp>
        <p:nvSpPr>
          <p:cNvPr id="38" name="Text 36"/>
          <p:cNvSpPr/>
          <p:nvPr/>
        </p:nvSpPr>
        <p:spPr>
          <a:xfrm>
            <a:off x="9831999" y="2685269"/>
            <a:ext cx="1133525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Svc A → Svc 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550631" y="3096692"/>
            <a:ext cx="1696343" cy="2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0631" y="3381040"/>
            <a:ext cx="1696343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Distributed agent services, each its own deployment.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/ 22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SCREEN · MODULE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767" y="1041301"/>
            <a:ext cx="10883460" cy="37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order, then a loop with a guard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12767" y="1493242"/>
            <a:ext cx="771426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/>
          <p:nvPr/>
        </p:nvSpPr>
        <p:spPr>
          <a:xfrm>
            <a:off x="927067" y="1537692"/>
            <a:ext cx="59362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4960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93710" y="1493242"/>
            <a:ext cx="761752" cy="231014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/>
        </p:spPr>
      </p:sp>
      <p:sp>
        <p:nvSpPr>
          <p:cNvPr id="8" name="Text 6"/>
          <p:cNvSpPr/>
          <p:nvPr/>
        </p:nvSpPr>
        <p:spPr>
          <a:xfrm>
            <a:off x="1908010" y="1537692"/>
            <a:ext cx="58395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Concept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06229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4979" y="1493242"/>
            <a:ext cx="613006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2879279" y="1537692"/>
            <a:ext cx="435206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8752" y="1533178"/>
            <a:ext cx="158783" cy="17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87502" y="1493242"/>
            <a:ext cx="724462" cy="231014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01802" y="1537692"/>
            <a:ext cx="546662" cy="16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12767" y="1825786"/>
            <a:ext cx="4759110" cy="3523423"/>
          </a:xfrm>
          <a:prstGeom prst="roundRect">
            <a:avLst>
              <a:gd name="adj" fmla="val 3604"/>
            </a:avLst>
          </a:prstGeom>
          <a:solidFill>
            <a:srgbClr val="1418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5917" y="2028937"/>
            <a:ext cx="4483393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91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07-multi-agent/1-agents_workflows.py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15917" y="2286657"/>
            <a:ext cx="4483393" cy="88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0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run_research_workflow(input):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findings = researcher_agent(input)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analysis = analyst_agent(findings)</a:t>
            </a:r>
            <a:endParaRPr lang="en-US" sz="10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</a:t>
            </a:r>
            <a:r>
              <a:rPr lang="en-US" sz="10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00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writer_agent(analysis)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5917" y="3239071"/>
            <a:ext cx="4483393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— no magic, one agent's output is the next agent's input.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49644" y="1825786"/>
            <a:ext cx="5629589" cy="3523423"/>
          </a:xfrm>
          <a:prstGeom prst="roundRect">
            <a:avLst>
              <a:gd name="adj" fmla="val 3604"/>
            </a:avLst>
          </a:prstGeom>
          <a:solidFill>
            <a:srgbClr val="14181F"/>
          </a:solidFill>
          <a:ln/>
        </p:spPr>
      </p:sp>
      <p:sp>
        <p:nvSpPr>
          <p:cNvPr id="20" name="Text 18"/>
          <p:cNvSpPr/>
          <p:nvPr/>
        </p:nvSpPr>
        <p:spPr>
          <a:xfrm>
            <a:off x="5952794" y="2028937"/>
            <a:ext cx="5379987" cy="194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891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07-multi-agent/2-graph_loops.py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52794" y="2286657"/>
            <a:ext cx="5379987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5"/>
              </a:lnSpc>
              <a:buNone/>
            </a:pP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builder.add_edge(</a:t>
            </a:r>
            <a:r>
              <a:rPr lang="en-US" sz="9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"writer"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9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"quality_checker"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ts val="1615"/>
              </a:lnSpc>
              <a:buNone/>
            </a:pP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builder.add_edge(</a:t>
            </a:r>
            <a:r>
              <a:rPr lang="en-US" sz="9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"quality_checker"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9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"writer"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50" dirty="0"/>
          </a:p>
          <a:p>
            <a:pPr algn="l" indent="0" marL="0">
              <a:lnSpc>
                <a:spcPts val="1615"/>
              </a:lnSpc>
              <a:buNone/>
            </a:pP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condition=</a:t>
            </a:r>
            <a:r>
              <a:rPr lang="en-US" sz="9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s: </a:t>
            </a:r>
            <a:r>
              <a:rPr lang="en-US" sz="9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"REVISE"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9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...)</a:t>
            </a:r>
            <a:endParaRPr lang="en-US" sz="950" dirty="0"/>
          </a:p>
          <a:p>
            <a:pPr algn="l" indent="0" marL="0">
              <a:lnSpc>
                <a:spcPts val="1615"/>
              </a:lnSpc>
              <a:buNone/>
            </a:pP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builder.add_edge(</a:t>
            </a:r>
            <a:r>
              <a:rPr lang="en-US" sz="9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"quality_checker"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9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"finalizer"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50" dirty="0"/>
          </a:p>
          <a:p>
            <a:pPr algn="l" indent="0" marL="0">
              <a:lnSpc>
                <a:spcPts val="1615"/>
              </a:lnSpc>
              <a:buNone/>
            </a:pP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condition=</a:t>
            </a:r>
            <a:r>
              <a:rPr lang="en-US" sz="9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s: </a:t>
            </a:r>
            <a:r>
              <a:rPr lang="en-US" sz="9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"APPROVED"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9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...)</a:t>
            </a:r>
            <a:endParaRPr lang="en-US" sz="950" dirty="0"/>
          </a:p>
          <a:p>
            <a:pPr algn="l" indent="0" marL="0">
              <a:lnSpc>
                <a:spcPts val="1615"/>
              </a:lnSpc>
              <a:buNone/>
            </a:pP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builder.set_max_node_executions(</a:t>
            </a:r>
            <a:r>
              <a:rPr lang="en-US" sz="95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r>
              <a:rPr lang="en-US" sz="950" dirty="0">
                <a:solidFill>
                  <a:srgbClr val="E4E1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52794" y="3605857"/>
            <a:ext cx="5379987" cy="363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 — a condition on each edge decides the next node. This is how a revise-loop becomes possible.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2767" y="5450743"/>
            <a:ext cx="10883460" cy="41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Explanation —</a:t>
            </a: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Workflow: each agent's output becomes the next agent's input, full stop. Graph: a condition on each edge decides the next node — that's how a revise-loop becomes possible. No </a:t>
            </a:r>
            <a:r>
              <a:rPr lang="en-US" sz="1100" dirty="0">
                <a:solidFill>
                  <a:srgbClr val="CC7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max_node_executions</a:t>
            </a: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the only thing between a bug and an infinite bill.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/ 22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SHIPPING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084535"/>
            <a:ext cx="10883460" cy="463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production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42" y="1779848"/>
            <a:ext cx="5188000" cy="1937428"/>
          </a:xfrm>
          <a:prstGeom prst="roundRect">
            <a:avLst>
              <a:gd name="adj" fmla="val 639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592" y="2010494"/>
            <a:ext cx="406383" cy="406383"/>
          </a:xfrm>
          <a:prstGeom prst="roundRect">
            <a:avLst>
              <a:gd name="adj" fmla="val 21876"/>
            </a:avLst>
          </a:prstGeom>
          <a:solidFill>
            <a:srgbClr val="14181F"/>
          </a:solidFill>
          <a:ln/>
        </p:spPr>
      </p:sp>
      <p:pic>
        <p:nvPicPr>
          <p:cNvPr id="6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8209" y="2112119"/>
            <a:ext cx="203150" cy="203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6592" y="2531145"/>
            <a:ext cx="4868499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46592" y="2873946"/>
            <a:ext cx="486849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Trace every tool call and model turn; know what the agent actually did, not just what it answered.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88058" y="1779848"/>
            <a:ext cx="5188000" cy="1937428"/>
          </a:xfrm>
          <a:prstGeom prst="roundRect">
            <a:avLst>
              <a:gd name="adj" fmla="val 639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18709" y="2010494"/>
            <a:ext cx="406383" cy="406383"/>
          </a:xfrm>
          <a:prstGeom prst="roundRect">
            <a:avLst>
              <a:gd name="adj" fmla="val 21876"/>
            </a:avLst>
          </a:prstGeom>
          <a:solidFill>
            <a:srgbClr val="14181F"/>
          </a:solidFill>
          <a:ln/>
        </p:spPr>
      </p:sp>
      <p:pic>
        <p:nvPicPr>
          <p:cNvPr id="11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20325" y="2112119"/>
            <a:ext cx="203150" cy="2031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18709" y="2531145"/>
            <a:ext cx="4868499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18709" y="2873946"/>
            <a:ext cx="4868499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outcomes, not vibes — before the agent reaches real users.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942" y="3901393"/>
            <a:ext cx="5188000" cy="1937428"/>
          </a:xfrm>
          <a:prstGeom prst="roundRect">
            <a:avLst>
              <a:gd name="adj" fmla="val 639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46592" y="4132039"/>
            <a:ext cx="406383" cy="406383"/>
          </a:xfrm>
          <a:prstGeom prst="roundRect">
            <a:avLst>
              <a:gd name="adj" fmla="val 21876"/>
            </a:avLst>
          </a:prstGeom>
          <a:solidFill>
            <a:srgbClr val="14181F"/>
          </a:solidFill>
          <a:ln/>
        </p:spPr>
      </p:sp>
      <p:pic>
        <p:nvPicPr>
          <p:cNvPr id="16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48209" y="4233664"/>
            <a:ext cx="203150" cy="2031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6592" y="4652690"/>
            <a:ext cx="4868499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&amp; guardrails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046592" y="4995490"/>
            <a:ext cx="486849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 what tools can touch and what the model is allowed to decide alone.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88058" y="3901393"/>
            <a:ext cx="5188000" cy="1937428"/>
          </a:xfrm>
          <a:prstGeom prst="roundRect">
            <a:avLst>
              <a:gd name="adj" fmla="val 639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18709" y="4132039"/>
            <a:ext cx="406383" cy="406383"/>
          </a:xfrm>
          <a:prstGeom prst="roundRect">
            <a:avLst>
              <a:gd name="adj" fmla="val 21876"/>
            </a:avLst>
          </a:prstGeom>
          <a:solidFill>
            <a:srgbClr val="14181F"/>
          </a:solidFill>
          <a:ln/>
        </p:spPr>
      </p:sp>
      <p:pic>
        <p:nvPicPr>
          <p:cNvPr id="21" name="Image 3" descr="Clou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20325" y="4233664"/>
            <a:ext cx="203150" cy="2031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18709" y="4652690"/>
            <a:ext cx="4868499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 &amp; scale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18709" y="4995490"/>
            <a:ext cx="486849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Cost, latency and error handling — the part every framework underdocuments.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/ 22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SCREEN · MODULE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084535"/>
            <a:ext cx="10883460" cy="463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it runs after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17" y="1783023"/>
            <a:ext cx="5181650" cy="1609361"/>
          </a:xfrm>
          <a:prstGeom prst="roundRect">
            <a:avLst>
              <a:gd name="adj" fmla="val 7497"/>
            </a:avLst>
          </a:prstGeom>
          <a:solidFill>
            <a:srgbClr val="14181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884" y="2015790"/>
            <a:ext cx="4857599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Bedrock AgentCore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884" y="2282441"/>
            <a:ext cx="4857599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Managed, Bedrock-native. Least ops, tightest to one cloud.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88058" y="1779848"/>
            <a:ext cx="5188000" cy="1615711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8709" y="2010494"/>
            <a:ext cx="4868499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/ Fargate / ECS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18709" y="2277145"/>
            <a:ext cx="4868499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Containerized, portable — runs the same locally as it does in the cloud.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942" y="3579676"/>
            <a:ext cx="5188000" cy="1809518"/>
          </a:xfrm>
          <a:prstGeom prst="roundRect">
            <a:avLst>
              <a:gd name="adj" fmla="val 6843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6592" y="3810322"/>
            <a:ext cx="4868499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46592" y="4076973"/>
            <a:ext cx="4868499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Event-driven, serverless — pay only when the agent actually runs.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8058" y="3579676"/>
            <a:ext cx="5188000" cy="1809518"/>
          </a:xfrm>
          <a:prstGeom prst="roundRect">
            <a:avLst>
              <a:gd name="adj" fmla="val 6843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8709" y="3810322"/>
            <a:ext cx="4868499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EC2 / EKS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18709" y="4076973"/>
            <a:ext cx="486849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control, most ops overhead — for teams that need to tune everything.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767" y="5646365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 deep dive — see </a:t>
            </a:r>
            <a:r>
              <a:rPr lang="en-US" sz="1100" dirty="0">
                <a:solidFill>
                  <a:srgbClr val="CC7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strandsagents.com/docs/user-guide/deploy</a:t>
            </a: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the real detail.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/ 22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 BEFORE YOU GO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767" y="1084535"/>
            <a:ext cx="10883460" cy="434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Known issues &amp; landmines</a:t>
            </a:r>
            <a:endParaRPr lang="en-US" sz="2800" dirty="0"/>
          </a:p>
        </p:txBody>
      </p:sp>
      <p:pic>
        <p:nvPicPr>
          <p:cNvPr id="4" name="Image 0" descr="Warning">    </p:cNvPr>
          <p:cNvPicPr>
            <a:picLocks noChangeAspect="1"/>
          </p:cNvPicPr>
          <p:nvPr/>
        </p:nvPicPr>
        <p:blipFill>
          <a:blip r:embed="rId1"/>
          <a:srcRect l="-802" r="-802" t="0" b="0"/>
          <a:stretch/>
        </p:blipFill>
        <p:spPr>
          <a:xfrm>
            <a:off x="812767" y="1722016"/>
            <a:ext cx="116086" cy="1650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0387" y="1722016"/>
            <a:ext cx="5139061" cy="41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Windows:</a:t>
            </a:r>
            <a:r>
              <a:rPr lang="en-US" sz="11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shell / python_repl import POSIX-only pty/fcntl and crash — already dropped from the affected scripts.</a:t>
            </a:r>
            <a:endParaRPr lang="en-US" sz="1100" dirty="0"/>
          </a:p>
        </p:txBody>
      </p:sp>
      <p:pic>
        <p:nvPicPr>
          <p:cNvPr id="6" name="Image 1" descr="Warning">    </p:cNvPr>
          <p:cNvPicPr>
            <a:picLocks noChangeAspect="1"/>
          </p:cNvPicPr>
          <p:nvPr/>
        </p:nvPicPr>
        <p:blipFill>
          <a:blip r:embed="rId2"/>
          <a:srcRect l="0" r="0" t="-446" b="-446"/>
          <a:stretch/>
        </p:blipFill>
        <p:spPr>
          <a:xfrm>
            <a:off x="6172150" y="1722016"/>
            <a:ext cx="138410" cy="1650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12094" y="1722016"/>
            <a:ext cx="5116153" cy="41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editor / file_write:</a:t>
            </a:r>
            <a:r>
              <a:rPr lang="en-US" sz="11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need BYPASS_TOOL_CONSENT=true or they hang on an interactive prompt.</a:t>
            </a:r>
            <a:endParaRPr lang="en-US" sz="1100" dirty="0"/>
          </a:p>
        </p:txBody>
      </p:sp>
      <p:pic>
        <p:nvPicPr>
          <p:cNvPr id="8" name="Image 2" descr="Warning">    </p:cNvPr>
          <p:cNvPicPr>
            <a:picLocks noChangeAspect="1"/>
          </p:cNvPicPr>
          <p:nvPr/>
        </p:nvPicPr>
        <p:blipFill>
          <a:blip r:embed="rId3"/>
          <a:srcRect l="-178" r="-178" t="0" b="0"/>
          <a:stretch/>
        </p:blipFill>
        <p:spPr>
          <a:xfrm>
            <a:off x="812767" y="3146140"/>
            <a:ext cx="152880" cy="1650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67180" y="3146140"/>
            <a:ext cx="5101164" cy="41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calculator:</a:t>
            </a:r>
            <a:r>
              <a:rPr lang="en-US" sz="11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needs the server pre-started in a separate terminal — don't do it live.</a:t>
            </a:r>
            <a:endParaRPr lang="en-US" sz="1100" dirty="0"/>
          </a:p>
        </p:txBody>
      </p:sp>
      <p:pic>
        <p:nvPicPr>
          <p:cNvPr id="10" name="Image 3" descr="Warning">    </p:cNvPr>
          <p:cNvPicPr>
            <a:picLocks noChangeAspect="1"/>
          </p:cNvPicPr>
          <p:nvPr/>
        </p:nvPicPr>
        <p:blipFill>
          <a:blip r:embed="rId4"/>
          <a:srcRect l="-964" r="-964" t="0" b="0"/>
          <a:stretch/>
        </p:blipFill>
        <p:spPr>
          <a:xfrm>
            <a:off x="6172150" y="3146140"/>
            <a:ext cx="103518" cy="1650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77202" y="3146140"/>
            <a:ext cx="5152091" cy="41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mem0 memory:</a:t>
            </a:r>
            <a:r>
              <a:rPr lang="en-US" sz="11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packaged strands_tools tool has an embedding-dimension mismatch — demo from the hand-configured script.</a:t>
            </a:r>
            <a:endParaRPr lang="en-US" sz="1100" dirty="0"/>
          </a:p>
        </p:txBody>
      </p:sp>
      <p:pic>
        <p:nvPicPr>
          <p:cNvPr id="12" name="Image 4" descr="Warning">    </p:cNvPr>
          <p:cNvPicPr>
            <a:picLocks noChangeAspect="1"/>
          </p:cNvPicPr>
          <p:nvPr/>
        </p:nvPicPr>
        <p:blipFill>
          <a:blip r:embed="rId5"/>
          <a:srcRect l="-1127" r="-1127" t="0" b="0"/>
          <a:stretch/>
        </p:blipFill>
        <p:spPr>
          <a:xfrm>
            <a:off x="812767" y="4570264"/>
            <a:ext cx="103849" cy="16503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18150" y="4570264"/>
            <a:ext cx="5151666" cy="41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size ≠ reliability:</a:t>
            </a:r>
            <a:r>
              <a:rPr lang="en-US" sz="11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qwen3.5:4b (100% GPU) stayed on-task; a larger 9b model ran partly on CPU and wandered off-script.</a:t>
            </a:r>
            <a:endParaRPr lang="en-US" sz="1100" dirty="0"/>
          </a:p>
        </p:txBody>
      </p:sp>
      <p:pic>
        <p:nvPicPr>
          <p:cNvPr id="14" name="Image 5" descr="Warning">    </p:cNvPr>
          <p:cNvPicPr>
            <a:picLocks noChangeAspect="1"/>
          </p:cNvPicPr>
          <p:nvPr/>
        </p:nvPicPr>
        <p:blipFill>
          <a:blip r:embed="rId6"/>
          <a:srcRect l="-664" r="-664" t="0" b="0"/>
          <a:stretch/>
        </p:blipFill>
        <p:spPr>
          <a:xfrm>
            <a:off x="6172150" y="4570264"/>
            <a:ext cx="122204" cy="16503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395889" y="4570264"/>
            <a:ext cx="5132845" cy="41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Bedrock:</a:t>
            </a:r>
            <a:r>
              <a:rPr lang="en-US" sz="11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ValidationException account-wide until AWS Support clears it — never promise a live Bedrock call.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/ 22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4276" y="1752860"/>
            <a:ext cx="218715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CC7A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ARCHITECT'S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44675" y="2050021"/>
            <a:ext cx="8502650" cy="901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1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Don't read Strands like a book. Read it like a spec.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42" y="3284996"/>
            <a:ext cx="1984970" cy="1044790"/>
          </a:xfrm>
          <a:prstGeom prst="roundRect">
            <a:avLst>
              <a:gd name="adj" fmla="val 942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825" y="3464880"/>
            <a:ext cx="1676003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825" y="3789908"/>
            <a:ext cx="1676003" cy="38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problem does this solve?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59646" y="3284996"/>
            <a:ext cx="1985053" cy="1044790"/>
          </a:xfrm>
          <a:prstGeom prst="roundRect">
            <a:avLst>
              <a:gd name="adj" fmla="val 942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9529" y="3464880"/>
            <a:ext cx="1676086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39529" y="3789908"/>
            <a:ext cx="1676086" cy="20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the abstraction?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03432" y="3284996"/>
            <a:ext cx="1985053" cy="1044790"/>
          </a:xfrm>
          <a:prstGeom prst="roundRect">
            <a:avLst>
              <a:gd name="adj" fmla="val 942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3315" y="3464880"/>
            <a:ext cx="1676086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83315" y="3789908"/>
            <a:ext cx="1676086" cy="38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the minimum code?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47218" y="3284996"/>
            <a:ext cx="1985053" cy="1044790"/>
          </a:xfrm>
          <a:prstGeom prst="roundRect">
            <a:avLst>
              <a:gd name="adj" fmla="val 9421"/>
            </a:avLst>
          </a:prstGeom>
          <a:solidFill>
            <a:srgbClr val="FFFFFF"/>
          </a:solidFill>
          <a:ln w="6350">
            <a:solidFill>
              <a:srgbClr val="E4E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7102" y="3464880"/>
            <a:ext cx="1676086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27102" y="3789908"/>
            <a:ext cx="1676086" cy="20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418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 internally?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91005" y="3284996"/>
            <a:ext cx="1985053" cy="1044790"/>
          </a:xfrm>
          <a:prstGeom prst="roundRect">
            <a:avLst>
              <a:gd name="adj" fmla="val 9421"/>
            </a:avLst>
          </a:prstGeom>
          <a:solidFill>
            <a:srgbClr val="14181F"/>
          </a:solidFill>
          <a:ln w="6350">
            <a:solidFill>
              <a:srgbClr val="1418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0889" y="3464880"/>
            <a:ext cx="1676086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70889" y="3789908"/>
            <a:ext cx="1676086" cy="20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would I NOT use it?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4270" y="4688495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these five of every page. Skip the ones that don't apply to your talk — that's the point.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767" y="6255990"/>
            <a:ext cx="245464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Community Day · Strands Agents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24480" y="6255990"/>
            <a:ext cx="505553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 / 22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212B"/>
              </a:gs>
              <a:gs pos="100000">
                <a:srgbClr val="0F1218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445000" cy="4445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2000" y="3048000"/>
            <a:ext cx="3810000" cy="3810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767" y="812763"/>
            <a:ext cx="1088346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FF99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812767" y="2190911"/>
            <a:ext cx="10883460" cy="130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the map,</a:t>
            </a:r>
            <a:endParaRPr lang="en-US" sz="4800" dirty="0"/>
          </a:p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5F3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the manual.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812767" y="3623382"/>
            <a:ext cx="6867525" cy="52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7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Agent Loop at the center. Everything else — tools, models, state, multi-agent, production — hangs off it.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12767" y="5303565"/>
            <a:ext cx="3775606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Ashish Patel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2767" y="5603205"/>
            <a:ext cx="377560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Senior Principal Architect · AI/ML &amp; Data Science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12767" y="5849603"/>
            <a:ext cx="3775606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891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Author · 22+ peer-reviewed papers · 60,000+ GitHub stars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367490" y="5849603"/>
            <a:ext cx="2072095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github.com/ashishpatel26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Agents — AWS Community Day Edition</dc:title>
  <dc:subject>PptxGenJS Presentation</dc:subject>
  <dc:creator>PptxGenJS</dc:creator>
  <cp:lastModifiedBy>PptxGenJS</cp:lastModifiedBy>
  <cp:revision>1</cp:revision>
  <dcterms:created xsi:type="dcterms:W3CDTF">2026-09-22T09:43:55Z</dcterms:created>
  <dcterms:modified xsi:type="dcterms:W3CDTF">2026-09-22T09:43:55Z</dcterms:modified>
</cp:coreProperties>
</file>